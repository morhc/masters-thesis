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0" r:id="rId1"/>
    <p:sldMasterId id="2147483696" r:id="rId2"/>
    <p:sldMasterId id="2147483703" r:id="rId3"/>
    <p:sldMasterId id="2147483708" r:id="rId4"/>
    <p:sldMasterId id="2147483713" r:id="rId5"/>
    <p:sldMasterId id="2147483718" r:id="rId6"/>
    <p:sldMasterId id="2147483723" r:id="rId7"/>
    <p:sldMasterId id="2147483726" r:id="rId8"/>
  </p:sldMasterIdLst>
  <p:notesMasterIdLst>
    <p:notesMasterId r:id="rId41"/>
  </p:notesMasterIdLst>
  <p:sldIdLst>
    <p:sldId id="325" r:id="rId9"/>
    <p:sldId id="339" r:id="rId10"/>
    <p:sldId id="285" r:id="rId11"/>
    <p:sldId id="326" r:id="rId12"/>
    <p:sldId id="286" r:id="rId13"/>
    <p:sldId id="298" r:id="rId14"/>
    <p:sldId id="301" r:id="rId15"/>
    <p:sldId id="302" r:id="rId16"/>
    <p:sldId id="343" r:id="rId17"/>
    <p:sldId id="305" r:id="rId18"/>
    <p:sldId id="299" r:id="rId19"/>
    <p:sldId id="300" r:id="rId20"/>
    <p:sldId id="340" r:id="rId21"/>
    <p:sldId id="303" r:id="rId22"/>
    <p:sldId id="335" r:id="rId23"/>
    <p:sldId id="304" r:id="rId24"/>
    <p:sldId id="341" r:id="rId25"/>
    <p:sldId id="312" r:id="rId26"/>
    <p:sldId id="306" r:id="rId27"/>
    <p:sldId id="308" r:id="rId28"/>
    <p:sldId id="309" r:id="rId29"/>
    <p:sldId id="336" r:id="rId30"/>
    <p:sldId id="307" r:id="rId31"/>
    <p:sldId id="310" r:id="rId32"/>
    <p:sldId id="337" r:id="rId33"/>
    <p:sldId id="311" r:id="rId34"/>
    <p:sldId id="332" r:id="rId35"/>
    <p:sldId id="328" r:id="rId36"/>
    <p:sldId id="338" r:id="rId37"/>
    <p:sldId id="333" r:id="rId38"/>
    <p:sldId id="327" r:id="rId39"/>
    <p:sldId id="342" r:id="rId4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85"/>
    <p:restoredTop sz="96280"/>
  </p:normalViewPr>
  <p:slideViewPr>
    <p:cSldViewPr snapToGrid="0" snapToObjects="1" showGuides="1">
      <p:cViewPr varScale="1">
        <p:scale>
          <a:sx n="236" d="100"/>
          <a:sy n="236" d="100"/>
        </p:scale>
        <p:origin x="2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41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FBE083-0F28-CE43-9112-6AF0E03FCA0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58D20D2-4F65-0E4F-92E9-8E22259E5F67}">
      <dgm:prSet/>
      <dgm:spPr/>
      <dgm:t>
        <a:bodyPr/>
        <a:lstStyle/>
        <a:p>
          <a:r>
            <a:rPr lang="en-US" b="0" i="0"/>
            <a:t>Took the 15 M</a:t>
          </a:r>
          <a:r>
            <a:rPr lang="en-US" b="0" i="0" baseline="-25000"/>
            <a:t>☉</a:t>
          </a:r>
          <a:r>
            <a:rPr lang="en-US" b="0" i="0"/>
            <a:t> </a:t>
          </a:r>
          <a:r>
            <a:rPr lang="en-US" b="0" i="1"/>
            <a:t>Z</a:t>
          </a:r>
          <a:r>
            <a:rPr lang="en-US" b="0" i="0"/>
            <a:t>=0.02 NuGrid model from Ritter+2018</a:t>
          </a:r>
          <a:endParaRPr lang="en-CA"/>
        </a:p>
      </dgm:t>
    </dgm:pt>
    <dgm:pt modelId="{998D93DA-1E69-E54A-91FC-673092921DC0}" type="parTrans" cxnId="{5020DD3F-BD92-7D4C-BCC8-5406371D5BF4}">
      <dgm:prSet/>
      <dgm:spPr/>
      <dgm:t>
        <a:bodyPr/>
        <a:lstStyle/>
        <a:p>
          <a:endParaRPr lang="en-US"/>
        </a:p>
      </dgm:t>
    </dgm:pt>
    <dgm:pt modelId="{A7501609-A3FD-0C4C-BE22-F5BD64E776D1}" type="sibTrans" cxnId="{5020DD3F-BD92-7D4C-BCC8-5406371D5BF4}">
      <dgm:prSet/>
      <dgm:spPr/>
      <dgm:t>
        <a:bodyPr/>
        <a:lstStyle/>
        <a:p>
          <a:endParaRPr lang="en-US"/>
        </a:p>
      </dgm:t>
    </dgm:pt>
    <dgm:pt modelId="{91E789E8-EBAF-1D4E-809C-320D49D0B438}">
      <dgm:prSet/>
      <dgm:spPr/>
      <dgm:t>
        <a:bodyPr/>
        <a:lstStyle/>
        <a:p>
          <a:r>
            <a:rPr lang="en-US" b="0" i="0"/>
            <a:t>Post-processed the O-shell with mppnp for 110 seconds </a:t>
          </a:r>
          <a:endParaRPr lang="en-CA"/>
        </a:p>
      </dgm:t>
    </dgm:pt>
    <dgm:pt modelId="{58400F43-2BF7-FA4E-8C19-B4789B422C31}" type="parTrans" cxnId="{35FD7A7B-84A9-9C40-B763-5DC7210E579A}">
      <dgm:prSet/>
      <dgm:spPr/>
      <dgm:t>
        <a:bodyPr/>
        <a:lstStyle/>
        <a:p>
          <a:endParaRPr lang="en-US"/>
        </a:p>
      </dgm:t>
    </dgm:pt>
    <dgm:pt modelId="{A667EFF7-3ECD-2344-AB9A-FF4F8221C884}" type="sibTrans" cxnId="{35FD7A7B-84A9-9C40-B763-5DC7210E579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C95B38E-A667-8B40-B8F8-217C4B061451}">
          <dgm:prSet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∆</m:t>
                  </m:r>
                  <m:r>
                    <a:rPr lang="en-CA" b="0" i="1">
                      <a:latin typeface="Cambria Math" panose="02040503050406030204" pitchFamily="18" charset="0"/>
                    </a:rPr>
                    <m:t>𝑡</m:t>
                  </m:r>
                </m:oMath>
              </a14:m>
              <a:r>
                <a:rPr lang="en-US" b="0" i="0" dirty="0"/>
                <a:t>=0.01 seconds and 404 mass zones</a:t>
              </a:r>
              <a:endParaRPr lang="en-CA" dirty="0"/>
            </a:p>
          </dgm:t>
        </dgm:pt>
      </mc:Choice>
      <mc:Fallback xmlns="">
        <dgm:pt modelId="{8C95B38E-A667-8B40-B8F8-217C4B061451}">
          <dgm:prSet/>
          <dgm:spPr/>
          <dgm:t>
            <a:bodyPr/>
            <a:lstStyle/>
            <a:p>
              <a:r>
                <a:rPr lang="en-US" b="0" i="0"/>
                <a:t>∆</a:t>
              </a:r>
              <a:r>
                <a:rPr lang="en-CA" b="0" i="0"/>
                <a:t>𝑡</a:t>
              </a:r>
              <a:r>
                <a:rPr lang="en-US" b="0" i="0" dirty="0"/>
                <a:t>=0.01 seconds and 404 mass zones</a:t>
              </a:r>
              <a:endParaRPr lang="en-CA" dirty="0"/>
            </a:p>
          </dgm:t>
        </dgm:pt>
      </mc:Fallback>
    </mc:AlternateContent>
    <dgm:pt modelId="{95A30476-8D14-3D4D-B4E1-0063C93E882F}" type="parTrans" cxnId="{FD4942F5-1C72-D04A-8031-E2FC660A3464}">
      <dgm:prSet/>
      <dgm:spPr/>
      <dgm:t>
        <a:bodyPr/>
        <a:lstStyle/>
        <a:p>
          <a:endParaRPr lang="en-US"/>
        </a:p>
      </dgm:t>
    </dgm:pt>
    <dgm:pt modelId="{4D439B1F-3660-F149-864F-CADE5E047734}" type="sibTrans" cxnId="{FD4942F5-1C72-D04A-8031-E2FC660A3464}">
      <dgm:prSet/>
      <dgm:spPr/>
      <dgm:t>
        <a:bodyPr/>
        <a:lstStyle/>
        <a:p>
          <a:endParaRPr lang="en-US"/>
        </a:p>
      </dgm:t>
    </dgm:pt>
    <dgm:pt modelId="{B7FB1C40-4069-6F4C-A92E-DE898B5A0366}" type="pres">
      <dgm:prSet presAssocID="{55FBE083-0F28-CE43-9112-6AF0E03FCA0F}" presName="linear" presStyleCnt="0">
        <dgm:presLayoutVars>
          <dgm:animLvl val="lvl"/>
          <dgm:resizeHandles val="exact"/>
        </dgm:presLayoutVars>
      </dgm:prSet>
      <dgm:spPr/>
    </dgm:pt>
    <dgm:pt modelId="{F4D1E4DD-B752-1B4B-8B8C-60288C28D075}" type="pres">
      <dgm:prSet presAssocID="{258D20D2-4F65-0E4F-92E9-8E22259E5F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BA872B3-CF09-6E4E-A810-15BC660CDD72}" type="pres">
      <dgm:prSet presAssocID="{A7501609-A3FD-0C4C-BE22-F5BD64E776D1}" presName="spacer" presStyleCnt="0"/>
      <dgm:spPr/>
    </dgm:pt>
    <dgm:pt modelId="{8AE51516-CD44-684A-8321-F6E20E929B33}" type="pres">
      <dgm:prSet presAssocID="{91E789E8-EBAF-1D4E-809C-320D49D0B43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183606-C130-3F40-90A6-B19BF23EAB36}" type="pres">
      <dgm:prSet presAssocID="{A667EFF7-3ECD-2344-AB9A-FF4F8221C884}" presName="spacer" presStyleCnt="0"/>
      <dgm:spPr/>
    </dgm:pt>
    <dgm:pt modelId="{E6E87F10-3109-7545-AAE1-6CF80E896C4D}" type="pres">
      <dgm:prSet presAssocID="{8C95B38E-A667-8B40-B8F8-217C4B06145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20DD3F-BD92-7D4C-BCC8-5406371D5BF4}" srcId="{55FBE083-0F28-CE43-9112-6AF0E03FCA0F}" destId="{258D20D2-4F65-0E4F-92E9-8E22259E5F67}" srcOrd="0" destOrd="0" parTransId="{998D93DA-1E69-E54A-91FC-673092921DC0}" sibTransId="{A7501609-A3FD-0C4C-BE22-F5BD64E776D1}"/>
    <dgm:cxn modelId="{35FD7A7B-84A9-9C40-B763-5DC7210E579A}" srcId="{55FBE083-0F28-CE43-9112-6AF0E03FCA0F}" destId="{91E789E8-EBAF-1D4E-809C-320D49D0B438}" srcOrd="1" destOrd="0" parTransId="{58400F43-2BF7-FA4E-8C19-B4789B422C31}" sibTransId="{A667EFF7-3ECD-2344-AB9A-FF4F8221C884}"/>
    <dgm:cxn modelId="{54945180-A508-9847-9079-7D23C91AB400}" type="presOf" srcId="{55FBE083-0F28-CE43-9112-6AF0E03FCA0F}" destId="{B7FB1C40-4069-6F4C-A92E-DE898B5A0366}" srcOrd="0" destOrd="0" presId="urn:microsoft.com/office/officeart/2005/8/layout/vList2"/>
    <dgm:cxn modelId="{FBFD3FBF-54FC-F644-A03C-7B1252E3C542}" type="presOf" srcId="{91E789E8-EBAF-1D4E-809C-320D49D0B438}" destId="{8AE51516-CD44-684A-8321-F6E20E929B33}" srcOrd="0" destOrd="0" presId="urn:microsoft.com/office/officeart/2005/8/layout/vList2"/>
    <dgm:cxn modelId="{28705CD1-DF06-4B4E-B5B6-4FC3E951CE3A}" type="presOf" srcId="{258D20D2-4F65-0E4F-92E9-8E22259E5F67}" destId="{F4D1E4DD-B752-1B4B-8B8C-60288C28D075}" srcOrd="0" destOrd="0" presId="urn:microsoft.com/office/officeart/2005/8/layout/vList2"/>
    <dgm:cxn modelId="{95DEE3DA-CB2C-3043-B326-159BC92E9FD7}" type="presOf" srcId="{8C95B38E-A667-8B40-B8F8-217C4B061451}" destId="{E6E87F10-3109-7545-AAE1-6CF80E896C4D}" srcOrd="0" destOrd="0" presId="urn:microsoft.com/office/officeart/2005/8/layout/vList2"/>
    <dgm:cxn modelId="{FD4942F5-1C72-D04A-8031-E2FC660A3464}" srcId="{55FBE083-0F28-CE43-9112-6AF0E03FCA0F}" destId="{8C95B38E-A667-8B40-B8F8-217C4B061451}" srcOrd="2" destOrd="0" parTransId="{95A30476-8D14-3D4D-B4E1-0063C93E882F}" sibTransId="{4D439B1F-3660-F149-864F-CADE5E047734}"/>
    <dgm:cxn modelId="{0A98B859-0181-B74D-9DCF-5A83D3ED08C5}" type="presParOf" srcId="{B7FB1C40-4069-6F4C-A92E-DE898B5A0366}" destId="{F4D1E4DD-B752-1B4B-8B8C-60288C28D075}" srcOrd="0" destOrd="0" presId="urn:microsoft.com/office/officeart/2005/8/layout/vList2"/>
    <dgm:cxn modelId="{7BC72B78-4C6C-D14B-9E35-59975CFEE1C5}" type="presParOf" srcId="{B7FB1C40-4069-6F4C-A92E-DE898B5A0366}" destId="{0BA872B3-CF09-6E4E-A810-15BC660CDD72}" srcOrd="1" destOrd="0" presId="urn:microsoft.com/office/officeart/2005/8/layout/vList2"/>
    <dgm:cxn modelId="{A9F44D8D-9BA6-2E4A-A020-8364A4479BFA}" type="presParOf" srcId="{B7FB1C40-4069-6F4C-A92E-DE898B5A0366}" destId="{8AE51516-CD44-684A-8321-F6E20E929B33}" srcOrd="2" destOrd="0" presId="urn:microsoft.com/office/officeart/2005/8/layout/vList2"/>
    <dgm:cxn modelId="{77F4BBD8-6929-D040-A546-D3548803BF2F}" type="presParOf" srcId="{B7FB1C40-4069-6F4C-A92E-DE898B5A0366}" destId="{34183606-C130-3F40-90A6-B19BF23EAB36}" srcOrd="3" destOrd="0" presId="urn:microsoft.com/office/officeart/2005/8/layout/vList2"/>
    <dgm:cxn modelId="{BBE0EA69-6AF2-754B-94F1-3254E2C34081}" type="presParOf" srcId="{B7FB1C40-4069-6F4C-A92E-DE898B5A0366}" destId="{E6E87F10-3109-7545-AAE1-6CF80E896C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FBE083-0F28-CE43-9112-6AF0E03FCA0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58D20D2-4F65-0E4F-92E9-8E22259E5F67}">
      <dgm:prSet/>
      <dgm:spPr/>
      <dgm:t>
        <a:bodyPr/>
        <a:lstStyle/>
        <a:p>
          <a:r>
            <a:rPr lang="en-US" b="0" i="0"/>
            <a:t>Took the 15 M</a:t>
          </a:r>
          <a:r>
            <a:rPr lang="en-US" b="0" i="0" baseline="-25000"/>
            <a:t>☉</a:t>
          </a:r>
          <a:r>
            <a:rPr lang="en-US" b="0" i="0"/>
            <a:t> </a:t>
          </a:r>
          <a:r>
            <a:rPr lang="en-US" b="0" i="1"/>
            <a:t>Z</a:t>
          </a:r>
          <a:r>
            <a:rPr lang="en-US" b="0" i="0"/>
            <a:t>=0.02 NuGrid model from Ritter+2018</a:t>
          </a:r>
          <a:endParaRPr lang="en-CA"/>
        </a:p>
      </dgm:t>
    </dgm:pt>
    <dgm:pt modelId="{998D93DA-1E69-E54A-91FC-673092921DC0}" type="parTrans" cxnId="{5020DD3F-BD92-7D4C-BCC8-5406371D5BF4}">
      <dgm:prSet/>
      <dgm:spPr/>
      <dgm:t>
        <a:bodyPr/>
        <a:lstStyle/>
        <a:p>
          <a:endParaRPr lang="en-US"/>
        </a:p>
      </dgm:t>
    </dgm:pt>
    <dgm:pt modelId="{A7501609-A3FD-0C4C-BE22-F5BD64E776D1}" type="sibTrans" cxnId="{5020DD3F-BD92-7D4C-BCC8-5406371D5BF4}">
      <dgm:prSet/>
      <dgm:spPr/>
      <dgm:t>
        <a:bodyPr/>
        <a:lstStyle/>
        <a:p>
          <a:endParaRPr lang="en-US"/>
        </a:p>
      </dgm:t>
    </dgm:pt>
    <dgm:pt modelId="{91E789E8-EBAF-1D4E-809C-320D49D0B438}">
      <dgm:prSet/>
      <dgm:spPr/>
      <dgm:t>
        <a:bodyPr/>
        <a:lstStyle/>
        <a:p>
          <a:r>
            <a:rPr lang="en-US" b="0" i="0"/>
            <a:t>Post-processed the O-shell with mppnp for 110 seconds </a:t>
          </a:r>
          <a:endParaRPr lang="en-CA"/>
        </a:p>
      </dgm:t>
    </dgm:pt>
    <dgm:pt modelId="{58400F43-2BF7-FA4E-8C19-B4789B422C31}" type="parTrans" cxnId="{35FD7A7B-84A9-9C40-B763-5DC7210E579A}">
      <dgm:prSet/>
      <dgm:spPr/>
      <dgm:t>
        <a:bodyPr/>
        <a:lstStyle/>
        <a:p>
          <a:endParaRPr lang="en-US"/>
        </a:p>
      </dgm:t>
    </dgm:pt>
    <dgm:pt modelId="{A667EFF7-3ECD-2344-AB9A-FF4F8221C884}" type="sibTrans" cxnId="{35FD7A7B-84A9-9C40-B763-5DC7210E579A}">
      <dgm:prSet/>
      <dgm:spPr/>
      <dgm:t>
        <a:bodyPr/>
        <a:lstStyle/>
        <a:p>
          <a:endParaRPr lang="en-US"/>
        </a:p>
      </dgm:t>
    </dgm:pt>
    <dgm:pt modelId="{8C95B38E-A667-8B40-B8F8-217C4B061451}">
      <dgm:prSet/>
      <dgm:spPr>
        <a:blipFill>
          <a:blip xmlns:r="http://schemas.openxmlformats.org/officeDocument/2006/relationships" r:embed="rId1"/>
          <a:stretch>
            <a:fillRect l="-938" r="-313" b="-1282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5A30476-8D14-3D4D-B4E1-0063C93E882F}" type="parTrans" cxnId="{FD4942F5-1C72-D04A-8031-E2FC660A3464}">
      <dgm:prSet/>
      <dgm:spPr/>
      <dgm:t>
        <a:bodyPr/>
        <a:lstStyle/>
        <a:p>
          <a:endParaRPr lang="en-US"/>
        </a:p>
      </dgm:t>
    </dgm:pt>
    <dgm:pt modelId="{4D439B1F-3660-F149-864F-CADE5E047734}" type="sibTrans" cxnId="{FD4942F5-1C72-D04A-8031-E2FC660A3464}">
      <dgm:prSet/>
      <dgm:spPr/>
      <dgm:t>
        <a:bodyPr/>
        <a:lstStyle/>
        <a:p>
          <a:endParaRPr lang="en-US"/>
        </a:p>
      </dgm:t>
    </dgm:pt>
    <dgm:pt modelId="{B7FB1C40-4069-6F4C-A92E-DE898B5A0366}" type="pres">
      <dgm:prSet presAssocID="{55FBE083-0F28-CE43-9112-6AF0E03FCA0F}" presName="linear" presStyleCnt="0">
        <dgm:presLayoutVars>
          <dgm:animLvl val="lvl"/>
          <dgm:resizeHandles val="exact"/>
        </dgm:presLayoutVars>
      </dgm:prSet>
      <dgm:spPr/>
    </dgm:pt>
    <dgm:pt modelId="{F4D1E4DD-B752-1B4B-8B8C-60288C28D075}" type="pres">
      <dgm:prSet presAssocID="{258D20D2-4F65-0E4F-92E9-8E22259E5F6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BA872B3-CF09-6E4E-A810-15BC660CDD72}" type="pres">
      <dgm:prSet presAssocID="{A7501609-A3FD-0C4C-BE22-F5BD64E776D1}" presName="spacer" presStyleCnt="0"/>
      <dgm:spPr/>
    </dgm:pt>
    <dgm:pt modelId="{8AE51516-CD44-684A-8321-F6E20E929B33}" type="pres">
      <dgm:prSet presAssocID="{91E789E8-EBAF-1D4E-809C-320D49D0B43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183606-C130-3F40-90A6-B19BF23EAB36}" type="pres">
      <dgm:prSet presAssocID="{A667EFF7-3ECD-2344-AB9A-FF4F8221C884}" presName="spacer" presStyleCnt="0"/>
      <dgm:spPr/>
    </dgm:pt>
    <dgm:pt modelId="{E6E87F10-3109-7545-AAE1-6CF80E896C4D}" type="pres">
      <dgm:prSet presAssocID="{8C95B38E-A667-8B40-B8F8-217C4B06145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20DD3F-BD92-7D4C-BCC8-5406371D5BF4}" srcId="{55FBE083-0F28-CE43-9112-6AF0E03FCA0F}" destId="{258D20D2-4F65-0E4F-92E9-8E22259E5F67}" srcOrd="0" destOrd="0" parTransId="{998D93DA-1E69-E54A-91FC-673092921DC0}" sibTransId="{A7501609-A3FD-0C4C-BE22-F5BD64E776D1}"/>
    <dgm:cxn modelId="{35FD7A7B-84A9-9C40-B763-5DC7210E579A}" srcId="{55FBE083-0F28-CE43-9112-6AF0E03FCA0F}" destId="{91E789E8-EBAF-1D4E-809C-320D49D0B438}" srcOrd="1" destOrd="0" parTransId="{58400F43-2BF7-FA4E-8C19-B4789B422C31}" sibTransId="{A667EFF7-3ECD-2344-AB9A-FF4F8221C884}"/>
    <dgm:cxn modelId="{54945180-A508-9847-9079-7D23C91AB400}" type="presOf" srcId="{55FBE083-0F28-CE43-9112-6AF0E03FCA0F}" destId="{B7FB1C40-4069-6F4C-A92E-DE898B5A0366}" srcOrd="0" destOrd="0" presId="urn:microsoft.com/office/officeart/2005/8/layout/vList2"/>
    <dgm:cxn modelId="{FBFD3FBF-54FC-F644-A03C-7B1252E3C542}" type="presOf" srcId="{91E789E8-EBAF-1D4E-809C-320D49D0B438}" destId="{8AE51516-CD44-684A-8321-F6E20E929B33}" srcOrd="0" destOrd="0" presId="urn:microsoft.com/office/officeart/2005/8/layout/vList2"/>
    <dgm:cxn modelId="{28705CD1-DF06-4B4E-B5B6-4FC3E951CE3A}" type="presOf" srcId="{258D20D2-4F65-0E4F-92E9-8E22259E5F67}" destId="{F4D1E4DD-B752-1B4B-8B8C-60288C28D075}" srcOrd="0" destOrd="0" presId="urn:microsoft.com/office/officeart/2005/8/layout/vList2"/>
    <dgm:cxn modelId="{95DEE3DA-CB2C-3043-B326-159BC92E9FD7}" type="presOf" srcId="{8C95B38E-A667-8B40-B8F8-217C4B061451}" destId="{E6E87F10-3109-7545-AAE1-6CF80E896C4D}" srcOrd="0" destOrd="0" presId="urn:microsoft.com/office/officeart/2005/8/layout/vList2"/>
    <dgm:cxn modelId="{FD4942F5-1C72-D04A-8031-E2FC660A3464}" srcId="{55FBE083-0F28-CE43-9112-6AF0E03FCA0F}" destId="{8C95B38E-A667-8B40-B8F8-217C4B061451}" srcOrd="2" destOrd="0" parTransId="{95A30476-8D14-3D4D-B4E1-0063C93E882F}" sibTransId="{4D439B1F-3660-F149-864F-CADE5E047734}"/>
    <dgm:cxn modelId="{0A98B859-0181-B74D-9DCF-5A83D3ED08C5}" type="presParOf" srcId="{B7FB1C40-4069-6F4C-A92E-DE898B5A0366}" destId="{F4D1E4DD-B752-1B4B-8B8C-60288C28D075}" srcOrd="0" destOrd="0" presId="urn:microsoft.com/office/officeart/2005/8/layout/vList2"/>
    <dgm:cxn modelId="{7BC72B78-4C6C-D14B-9E35-59975CFEE1C5}" type="presParOf" srcId="{B7FB1C40-4069-6F4C-A92E-DE898B5A0366}" destId="{0BA872B3-CF09-6E4E-A810-15BC660CDD72}" srcOrd="1" destOrd="0" presId="urn:microsoft.com/office/officeart/2005/8/layout/vList2"/>
    <dgm:cxn modelId="{A9F44D8D-9BA6-2E4A-A020-8364A4479BFA}" type="presParOf" srcId="{B7FB1C40-4069-6F4C-A92E-DE898B5A0366}" destId="{8AE51516-CD44-684A-8321-F6E20E929B33}" srcOrd="2" destOrd="0" presId="urn:microsoft.com/office/officeart/2005/8/layout/vList2"/>
    <dgm:cxn modelId="{77F4BBD8-6929-D040-A546-D3548803BF2F}" type="presParOf" srcId="{B7FB1C40-4069-6F4C-A92E-DE898B5A0366}" destId="{34183606-C130-3F40-90A6-B19BF23EAB36}" srcOrd="3" destOrd="0" presId="urn:microsoft.com/office/officeart/2005/8/layout/vList2"/>
    <dgm:cxn modelId="{BBE0EA69-6AF2-754B-94F1-3254E2C34081}" type="presParOf" srcId="{B7FB1C40-4069-6F4C-A92E-DE898B5A0366}" destId="{E6E87F10-3109-7545-AAE1-6CF80E896C4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D98D31-2500-1346-BCDB-4D230B270C2E}" type="doc">
      <dgm:prSet loTypeId="urn:microsoft.com/office/officeart/2005/8/layout/default" loCatId="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21D8EB4-D65B-BC48-90B3-46AE88F28248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Mixing details significantly impact nucleosynthesis in the merger</a:t>
          </a:r>
        </a:p>
      </dgm:t>
    </dgm:pt>
    <dgm:pt modelId="{AC511073-6392-0B4D-A0B3-1EFAD1D71BF4}" type="parTrans" cxnId="{4F831278-8305-A04A-875F-31CC66DF23B7}">
      <dgm:prSet/>
      <dgm:spPr/>
      <dgm:t>
        <a:bodyPr/>
        <a:lstStyle/>
        <a:p>
          <a:endParaRPr lang="en-US"/>
        </a:p>
      </dgm:t>
    </dgm:pt>
    <dgm:pt modelId="{D58A3F10-4EC1-584F-B404-AD39C0FEDEDC}" type="sibTrans" cxnId="{4F831278-8305-A04A-875F-31CC66DF23B7}">
      <dgm:prSet/>
      <dgm:spPr/>
      <dgm:t>
        <a:bodyPr/>
        <a:lstStyle/>
        <a:p>
          <a:endParaRPr lang="en-US"/>
        </a:p>
      </dgm:t>
    </dgm:pt>
    <dgm:pt modelId="{8EB5F547-43BC-D840-86A5-BCAA7B531BF8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Mixing impact can be non-monotonic and affects isotopic ratios</a:t>
          </a:r>
        </a:p>
      </dgm:t>
    </dgm:pt>
    <dgm:pt modelId="{79743915-1582-0F4F-BCE0-968EDFF56F50}" type="parTrans" cxnId="{F28A938E-DF7E-3A42-940B-46AC122070D3}">
      <dgm:prSet/>
      <dgm:spPr/>
      <dgm:t>
        <a:bodyPr/>
        <a:lstStyle/>
        <a:p>
          <a:endParaRPr lang="en-US"/>
        </a:p>
      </dgm:t>
    </dgm:pt>
    <dgm:pt modelId="{EF145019-C3EA-0D4B-854B-46BC042249E5}" type="sibTrans" cxnId="{F28A938E-DF7E-3A42-940B-46AC122070D3}">
      <dgm:prSet/>
      <dgm:spPr/>
      <dgm:t>
        <a:bodyPr/>
        <a:lstStyle/>
        <a:p>
          <a:endParaRPr lang="en-US"/>
        </a:p>
      </dgm:t>
    </dgm:pt>
    <dgm:pt modelId="{E8D2508D-BAAE-5D4D-A21A-3FAAF5C73C10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Correlated reaction rates depend on the mixing conditions</a:t>
          </a:r>
        </a:p>
      </dgm:t>
    </dgm:pt>
    <dgm:pt modelId="{C2F2866A-1165-D241-8078-66B2A3DA5CD8}" type="parTrans" cxnId="{210BD0CE-E9E1-B648-A85F-31216E791C17}">
      <dgm:prSet/>
      <dgm:spPr/>
      <dgm:t>
        <a:bodyPr/>
        <a:lstStyle/>
        <a:p>
          <a:endParaRPr lang="en-US"/>
        </a:p>
      </dgm:t>
    </dgm:pt>
    <dgm:pt modelId="{56213297-6E01-4D46-8486-9FEF4651DBF5}" type="sibTrans" cxnId="{210BD0CE-E9E1-B648-A85F-31216E791C17}">
      <dgm:prSet/>
      <dgm:spPr/>
      <dgm:t>
        <a:bodyPr/>
        <a:lstStyle/>
        <a:p>
          <a:endParaRPr lang="en-US"/>
        </a:p>
      </dgm:t>
    </dgm:pt>
    <dgm:pt modelId="{F9EC868C-217E-FB4E-AF4F-810D514995E5}">
      <dgm:prSet/>
      <dgm:spPr/>
      <dgm:t>
        <a:bodyPr/>
        <a:lstStyle/>
        <a:p>
          <a:r>
            <a:rPr lang="en-US" dirty="0"/>
            <a:t>Spread in nuclear reaction impact depends on the mixing conditions</a:t>
          </a:r>
        </a:p>
      </dgm:t>
    </dgm:pt>
    <dgm:pt modelId="{3F85A59F-21F6-3F4C-B149-C093A72452B8}" type="parTrans" cxnId="{11CAFE2F-D80D-EF41-AAC2-8396B95F6482}">
      <dgm:prSet/>
      <dgm:spPr/>
    </dgm:pt>
    <dgm:pt modelId="{37E638AB-6719-AA45-A3D1-DE3F45ABC396}" type="sibTrans" cxnId="{11CAFE2F-D80D-EF41-AAC2-8396B95F6482}">
      <dgm:prSet/>
      <dgm:spPr/>
    </dgm:pt>
    <dgm:pt modelId="{5E5E11A6-A654-B647-8A56-C6FD725DA5BA}" type="pres">
      <dgm:prSet presAssocID="{52D98D31-2500-1346-BCDB-4D230B270C2E}" presName="diagram" presStyleCnt="0">
        <dgm:presLayoutVars>
          <dgm:dir/>
          <dgm:resizeHandles val="exact"/>
        </dgm:presLayoutVars>
      </dgm:prSet>
      <dgm:spPr/>
    </dgm:pt>
    <dgm:pt modelId="{DA1C86B2-01DC-4344-B2F8-830395E539C5}" type="pres">
      <dgm:prSet presAssocID="{D21D8EB4-D65B-BC48-90B3-46AE88F28248}" presName="node" presStyleLbl="node1" presStyleIdx="0" presStyleCnt="4">
        <dgm:presLayoutVars>
          <dgm:bulletEnabled val="1"/>
        </dgm:presLayoutVars>
      </dgm:prSet>
      <dgm:spPr/>
    </dgm:pt>
    <dgm:pt modelId="{D5BF0C4A-C583-754D-B27D-1D1083AD0437}" type="pres">
      <dgm:prSet presAssocID="{D58A3F10-4EC1-584F-B404-AD39C0FEDEDC}" presName="sibTrans" presStyleCnt="0"/>
      <dgm:spPr/>
    </dgm:pt>
    <dgm:pt modelId="{BC0DD89F-417C-CF4F-88C9-E1F662598E2C}" type="pres">
      <dgm:prSet presAssocID="{8EB5F547-43BC-D840-86A5-BCAA7B531BF8}" presName="node" presStyleLbl="node1" presStyleIdx="1" presStyleCnt="4">
        <dgm:presLayoutVars>
          <dgm:bulletEnabled val="1"/>
        </dgm:presLayoutVars>
      </dgm:prSet>
      <dgm:spPr/>
    </dgm:pt>
    <dgm:pt modelId="{FFA08F14-D73E-194F-8375-14864C75D6BC}" type="pres">
      <dgm:prSet presAssocID="{EF145019-C3EA-0D4B-854B-46BC042249E5}" presName="sibTrans" presStyleCnt="0"/>
      <dgm:spPr/>
    </dgm:pt>
    <dgm:pt modelId="{20B473EC-9210-6E40-95C4-8D48AA0D91C4}" type="pres">
      <dgm:prSet presAssocID="{F9EC868C-217E-FB4E-AF4F-810D514995E5}" presName="node" presStyleLbl="node1" presStyleIdx="2" presStyleCnt="4">
        <dgm:presLayoutVars>
          <dgm:bulletEnabled val="1"/>
        </dgm:presLayoutVars>
      </dgm:prSet>
      <dgm:spPr/>
    </dgm:pt>
    <dgm:pt modelId="{E6A4BC5A-695A-3444-8D7C-CD300F894975}" type="pres">
      <dgm:prSet presAssocID="{37E638AB-6719-AA45-A3D1-DE3F45ABC396}" presName="sibTrans" presStyleCnt="0"/>
      <dgm:spPr/>
    </dgm:pt>
    <dgm:pt modelId="{E42C062D-F492-234A-A402-26D7CE835AC5}" type="pres">
      <dgm:prSet presAssocID="{E8D2508D-BAAE-5D4D-A21A-3FAAF5C73C10}" presName="node" presStyleLbl="node1" presStyleIdx="3" presStyleCnt="4">
        <dgm:presLayoutVars>
          <dgm:bulletEnabled val="1"/>
        </dgm:presLayoutVars>
      </dgm:prSet>
      <dgm:spPr/>
    </dgm:pt>
  </dgm:ptLst>
  <dgm:cxnLst>
    <dgm:cxn modelId="{96E9E32A-FCC8-554B-A7A1-ACFFDEB0BE6C}" type="presOf" srcId="{F9EC868C-217E-FB4E-AF4F-810D514995E5}" destId="{20B473EC-9210-6E40-95C4-8D48AA0D91C4}" srcOrd="0" destOrd="0" presId="urn:microsoft.com/office/officeart/2005/8/layout/default"/>
    <dgm:cxn modelId="{11CAFE2F-D80D-EF41-AAC2-8396B95F6482}" srcId="{52D98D31-2500-1346-BCDB-4D230B270C2E}" destId="{F9EC868C-217E-FB4E-AF4F-810D514995E5}" srcOrd="2" destOrd="0" parTransId="{3F85A59F-21F6-3F4C-B149-C093A72452B8}" sibTransId="{37E638AB-6719-AA45-A3D1-DE3F45ABC396}"/>
    <dgm:cxn modelId="{0078F040-30C9-ED4A-AEBB-DE7AA50F297B}" type="presOf" srcId="{8EB5F547-43BC-D840-86A5-BCAA7B531BF8}" destId="{BC0DD89F-417C-CF4F-88C9-E1F662598E2C}" srcOrd="0" destOrd="0" presId="urn:microsoft.com/office/officeart/2005/8/layout/default"/>
    <dgm:cxn modelId="{57183570-5911-D848-AA85-C16D001E98FC}" type="presOf" srcId="{D21D8EB4-D65B-BC48-90B3-46AE88F28248}" destId="{DA1C86B2-01DC-4344-B2F8-830395E539C5}" srcOrd="0" destOrd="0" presId="urn:microsoft.com/office/officeart/2005/8/layout/default"/>
    <dgm:cxn modelId="{B52B8876-F94E-0944-BB18-4BA8BFA7FEFB}" type="presOf" srcId="{52D98D31-2500-1346-BCDB-4D230B270C2E}" destId="{5E5E11A6-A654-B647-8A56-C6FD725DA5BA}" srcOrd="0" destOrd="0" presId="urn:microsoft.com/office/officeart/2005/8/layout/default"/>
    <dgm:cxn modelId="{CAB3EC77-08E4-6944-AD10-61A444A659F0}" type="presOf" srcId="{E8D2508D-BAAE-5D4D-A21A-3FAAF5C73C10}" destId="{E42C062D-F492-234A-A402-26D7CE835AC5}" srcOrd="0" destOrd="0" presId="urn:microsoft.com/office/officeart/2005/8/layout/default"/>
    <dgm:cxn modelId="{4F831278-8305-A04A-875F-31CC66DF23B7}" srcId="{52D98D31-2500-1346-BCDB-4D230B270C2E}" destId="{D21D8EB4-D65B-BC48-90B3-46AE88F28248}" srcOrd="0" destOrd="0" parTransId="{AC511073-6392-0B4D-A0B3-1EFAD1D71BF4}" sibTransId="{D58A3F10-4EC1-584F-B404-AD39C0FEDEDC}"/>
    <dgm:cxn modelId="{F28A938E-DF7E-3A42-940B-46AC122070D3}" srcId="{52D98D31-2500-1346-BCDB-4D230B270C2E}" destId="{8EB5F547-43BC-D840-86A5-BCAA7B531BF8}" srcOrd="1" destOrd="0" parTransId="{79743915-1582-0F4F-BCE0-968EDFF56F50}" sibTransId="{EF145019-C3EA-0D4B-854B-46BC042249E5}"/>
    <dgm:cxn modelId="{210BD0CE-E9E1-B648-A85F-31216E791C17}" srcId="{52D98D31-2500-1346-BCDB-4D230B270C2E}" destId="{E8D2508D-BAAE-5D4D-A21A-3FAAF5C73C10}" srcOrd="3" destOrd="0" parTransId="{C2F2866A-1165-D241-8078-66B2A3DA5CD8}" sibTransId="{56213297-6E01-4D46-8486-9FEF4651DBF5}"/>
    <dgm:cxn modelId="{73AE6AD4-01E0-3242-AF78-27D1B7A0F4EA}" type="presParOf" srcId="{5E5E11A6-A654-B647-8A56-C6FD725DA5BA}" destId="{DA1C86B2-01DC-4344-B2F8-830395E539C5}" srcOrd="0" destOrd="0" presId="urn:microsoft.com/office/officeart/2005/8/layout/default"/>
    <dgm:cxn modelId="{DB140A86-3C59-6640-8757-66A729DD2DD0}" type="presParOf" srcId="{5E5E11A6-A654-B647-8A56-C6FD725DA5BA}" destId="{D5BF0C4A-C583-754D-B27D-1D1083AD0437}" srcOrd="1" destOrd="0" presId="urn:microsoft.com/office/officeart/2005/8/layout/default"/>
    <dgm:cxn modelId="{DC5ECE11-2889-2447-AD0E-DD40F708DFE9}" type="presParOf" srcId="{5E5E11A6-A654-B647-8A56-C6FD725DA5BA}" destId="{BC0DD89F-417C-CF4F-88C9-E1F662598E2C}" srcOrd="2" destOrd="0" presId="urn:microsoft.com/office/officeart/2005/8/layout/default"/>
    <dgm:cxn modelId="{CC640282-81EF-1A41-8B1E-641459E58446}" type="presParOf" srcId="{5E5E11A6-A654-B647-8A56-C6FD725DA5BA}" destId="{FFA08F14-D73E-194F-8375-14864C75D6BC}" srcOrd="3" destOrd="0" presId="urn:microsoft.com/office/officeart/2005/8/layout/default"/>
    <dgm:cxn modelId="{BEDBD504-5B3F-3449-97D4-0158C9C65ECF}" type="presParOf" srcId="{5E5E11A6-A654-B647-8A56-C6FD725DA5BA}" destId="{20B473EC-9210-6E40-95C4-8D48AA0D91C4}" srcOrd="4" destOrd="0" presId="urn:microsoft.com/office/officeart/2005/8/layout/default"/>
    <dgm:cxn modelId="{41F88053-DB4F-8A4C-AD11-87993ECB08AF}" type="presParOf" srcId="{5E5E11A6-A654-B647-8A56-C6FD725DA5BA}" destId="{E6A4BC5A-695A-3444-8D7C-CD300F894975}" srcOrd="5" destOrd="0" presId="urn:microsoft.com/office/officeart/2005/8/layout/default"/>
    <dgm:cxn modelId="{D2513379-03E5-7A45-9BE1-E7557036313A}" type="presParOf" srcId="{5E5E11A6-A654-B647-8A56-C6FD725DA5BA}" destId="{E42C062D-F492-234A-A402-26D7CE835AC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1E4DD-B752-1B4B-8B8C-60288C28D075}">
      <dsp:nvSpPr>
        <dsp:cNvPr id="0" name=""/>
        <dsp:cNvSpPr/>
      </dsp:nvSpPr>
      <dsp:spPr>
        <a:xfrm>
          <a:off x="0" y="17948"/>
          <a:ext cx="4038600" cy="968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Took the 15 M</a:t>
          </a:r>
          <a:r>
            <a:rPr lang="en-US" sz="2300" b="0" i="0" kern="1200" baseline="-25000"/>
            <a:t>☉</a:t>
          </a:r>
          <a:r>
            <a:rPr lang="en-US" sz="2300" b="0" i="0" kern="1200"/>
            <a:t> </a:t>
          </a:r>
          <a:r>
            <a:rPr lang="en-US" sz="2300" b="0" i="1" kern="1200"/>
            <a:t>Z</a:t>
          </a:r>
          <a:r>
            <a:rPr lang="en-US" sz="2300" b="0" i="0" kern="1200"/>
            <a:t>=0.02 NuGrid model from Ritter+2018</a:t>
          </a:r>
          <a:endParaRPr lang="en-CA" sz="2300" kern="1200"/>
        </a:p>
      </dsp:txBody>
      <dsp:txXfrm>
        <a:off x="47291" y="65239"/>
        <a:ext cx="3944018" cy="874178"/>
      </dsp:txXfrm>
    </dsp:sp>
    <dsp:sp modelId="{8AE51516-CD44-684A-8321-F6E20E929B33}">
      <dsp:nvSpPr>
        <dsp:cNvPr id="0" name=""/>
        <dsp:cNvSpPr/>
      </dsp:nvSpPr>
      <dsp:spPr>
        <a:xfrm>
          <a:off x="0" y="1052948"/>
          <a:ext cx="4038600" cy="968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Post-processed the O-shell with mppnp for 110 seconds </a:t>
          </a:r>
          <a:endParaRPr lang="en-CA" sz="2300" kern="1200"/>
        </a:p>
      </dsp:txBody>
      <dsp:txXfrm>
        <a:off x="47291" y="1100239"/>
        <a:ext cx="3944018" cy="874178"/>
      </dsp:txXfrm>
    </dsp:sp>
    <dsp:sp modelId="{E6E87F10-3109-7545-AAE1-6CF80E896C4D}">
      <dsp:nvSpPr>
        <dsp:cNvPr id="0" name=""/>
        <dsp:cNvSpPr/>
      </dsp:nvSpPr>
      <dsp:spPr>
        <a:xfrm>
          <a:off x="0" y="2087948"/>
          <a:ext cx="4038600" cy="968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US" sz="2300" b="0" i="1" kern="1200" smtClean="0">
                  <a:latin typeface="Cambria Math" panose="02040503050406030204" pitchFamily="18" charset="0"/>
                </a:rPr>
                <m:t>∆</m:t>
              </m:r>
              <m:r>
                <a:rPr lang="en-CA" sz="2300" b="0" i="1" kern="1200">
                  <a:latin typeface="Cambria Math" panose="02040503050406030204" pitchFamily="18" charset="0"/>
                </a:rPr>
                <m:t>𝑡</m:t>
              </m:r>
            </m:oMath>
          </a14:m>
          <a:r>
            <a:rPr lang="en-US" sz="2300" b="0" i="0" kern="1200" dirty="0"/>
            <a:t>=0.01 seconds and 404 mass zones</a:t>
          </a:r>
          <a:endParaRPr lang="en-CA" sz="2300" kern="1200" dirty="0"/>
        </a:p>
      </dsp:txBody>
      <dsp:txXfrm>
        <a:off x="47291" y="2135239"/>
        <a:ext cx="3944018" cy="8741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1C86B2-01DC-4344-B2F8-830395E539C5}">
      <dsp:nvSpPr>
        <dsp:cNvPr id="0" name=""/>
        <dsp:cNvSpPr/>
      </dsp:nvSpPr>
      <dsp:spPr>
        <a:xfrm>
          <a:off x="61829" y="645"/>
          <a:ext cx="2778700" cy="16672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" panose="020B0004020202020204" pitchFamily="34" charset="0"/>
            </a:rPr>
            <a:t>Mixing details significantly impact nucleosynthesis in the merger</a:t>
          </a:r>
        </a:p>
      </dsp:txBody>
      <dsp:txXfrm>
        <a:off x="61829" y="645"/>
        <a:ext cx="2778700" cy="1667220"/>
      </dsp:txXfrm>
    </dsp:sp>
    <dsp:sp modelId="{BC0DD89F-417C-CF4F-88C9-E1F662598E2C}">
      <dsp:nvSpPr>
        <dsp:cNvPr id="0" name=""/>
        <dsp:cNvSpPr/>
      </dsp:nvSpPr>
      <dsp:spPr>
        <a:xfrm>
          <a:off x="3118400" y="645"/>
          <a:ext cx="2778700" cy="16672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" panose="020B0004020202020204" pitchFamily="34" charset="0"/>
            </a:rPr>
            <a:t>Mixing impact can be non-monotonic and affects isotopic ratios</a:t>
          </a:r>
        </a:p>
      </dsp:txBody>
      <dsp:txXfrm>
        <a:off x="3118400" y="645"/>
        <a:ext cx="2778700" cy="1667220"/>
      </dsp:txXfrm>
    </dsp:sp>
    <dsp:sp modelId="{20B473EC-9210-6E40-95C4-8D48AA0D91C4}">
      <dsp:nvSpPr>
        <dsp:cNvPr id="0" name=""/>
        <dsp:cNvSpPr/>
      </dsp:nvSpPr>
      <dsp:spPr>
        <a:xfrm>
          <a:off x="61829" y="1945735"/>
          <a:ext cx="2778700" cy="16672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Spread in nuclear reaction impact depends on the mixing conditions</a:t>
          </a:r>
        </a:p>
      </dsp:txBody>
      <dsp:txXfrm>
        <a:off x="61829" y="1945735"/>
        <a:ext cx="2778700" cy="1667220"/>
      </dsp:txXfrm>
    </dsp:sp>
    <dsp:sp modelId="{E42C062D-F492-234A-A402-26D7CE835AC5}">
      <dsp:nvSpPr>
        <dsp:cNvPr id="0" name=""/>
        <dsp:cNvSpPr/>
      </dsp:nvSpPr>
      <dsp:spPr>
        <a:xfrm>
          <a:off x="3118400" y="1945735"/>
          <a:ext cx="2778700" cy="16672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" panose="020B0004020202020204" pitchFamily="34" charset="0"/>
            </a:rPr>
            <a:t>Correlated reaction rates depend on the mixing conditions</a:t>
          </a:r>
        </a:p>
      </dsp:txBody>
      <dsp:txXfrm>
        <a:off x="3118400" y="1945735"/>
        <a:ext cx="2778700" cy="1667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74CC1-50B6-A346-9F2F-A73D55FF36C0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25CF2-3302-D948-BF01-550CF443B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07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79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94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09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96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84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31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5FB5D-012B-4A15-25CB-AF55596FD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C2B31-79C0-E205-6174-0BA0B2E89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CB46C-4148-D8E1-9E7D-DB40E47A7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82012-F8FB-8B87-12F4-79BB8DDCB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725CF2-3302-D948-BF01-550CF443BDA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86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197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3203E-DECD-6B44-8FD0-F8EE956122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2632710"/>
            <a:ext cx="8280400" cy="399480"/>
          </a:xfrm>
          <a:prstGeom prst="rect">
            <a:avLst/>
          </a:prstGeom>
        </p:spPr>
        <p:txBody>
          <a:bodyPr anchor="t"/>
          <a:lstStyle>
            <a:lvl1pPr algn="ctr">
              <a:defRPr sz="4000" b="0" i="0"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827763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96D-4454-864F-8C77-E5D94C161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411957"/>
            <a:ext cx="8280400" cy="513160"/>
          </a:xfrm>
          <a:prstGeom prst="rect">
            <a:avLst/>
          </a:prstGeom>
        </p:spPr>
        <p:txBody>
          <a:bodyPr/>
          <a:lstStyle>
            <a:lvl1pPr>
              <a:lnSpc>
                <a:spcPts val="4100"/>
              </a:lnSpc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C531-1ECA-174B-AFC7-F2815E722F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800" y="1339401"/>
            <a:ext cx="8280400" cy="3074657"/>
          </a:xfrm>
          <a:prstGeom prst="rect">
            <a:avLst/>
          </a:prstGeom>
        </p:spPr>
        <p:txBody>
          <a:bodyPr wrap="square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900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E665-0FA3-A64C-B18B-639C1174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411957"/>
            <a:ext cx="8280207" cy="513160"/>
          </a:xfrm>
          <a:prstGeom prst="rect">
            <a:avLst/>
          </a:prstGeom>
        </p:spPr>
        <p:txBody>
          <a:bodyPr/>
          <a:lstStyle>
            <a:lvl1pPr>
              <a:lnSpc>
                <a:spcPts val="4100"/>
              </a:lnSpc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98FA-A1C5-2041-9AF5-9A5DE6A948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167" y="1331948"/>
            <a:ext cx="3744000" cy="310339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A99113-DED1-9A4C-9E5D-65CA14CD0B6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68200" y="1331948"/>
            <a:ext cx="3744000" cy="310339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5pPr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548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48958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176663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616000" cy="48958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D15C9-EBC7-A949-ACA5-2F38B8DCE9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000" y="0"/>
            <a:ext cx="3384000" cy="23760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527F89C-5E29-384B-85F8-6FD29D91382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64212" y="2504603"/>
            <a:ext cx="3384000" cy="2376000"/>
          </a:xfrm>
          <a:prstGeom prst="rect">
            <a:avLst/>
          </a:prstGeom>
        </p:spPr>
        <p:txBody>
          <a:bodyPr/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70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96D-4454-864F-8C77-E5D94C161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411957"/>
            <a:ext cx="8280400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C531-1ECA-174B-AFC7-F2815E722F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800" y="1339401"/>
            <a:ext cx="8280400" cy="2968670"/>
          </a:xfrm>
        </p:spPr>
        <p:txBody>
          <a:bodyPr/>
          <a:lstStyle>
            <a:lvl2pPr marL="400050" indent="-163513">
              <a:tabLst/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1818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E665-0FA3-A64C-B18B-639C1174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169" y="412750"/>
            <a:ext cx="8268032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98FA-A1C5-2041-9AF5-9A5DE6A948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168" y="1335928"/>
            <a:ext cx="3780000" cy="2835020"/>
          </a:xfrm>
        </p:spPr>
        <p:txBody>
          <a:bodyPr/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lvl1pPr>
            <a:lvl2pPr marL="357188" marR="0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lvl2pPr>
            <a:lvl3pPr marL="533400" marR="0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lvl3pPr>
            <a:lvl4pPr marL="668338" marR="0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lvl4pPr>
            <a:lvl5pPr marL="801688" marR="0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lvl5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Click to edit text</a:t>
            </a:r>
          </a:p>
          <a:p>
            <a:pPr marL="357188" marR="0" lvl="1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</a:p>
          <a:p>
            <a:pPr marL="533400" marR="0" lvl="2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</a:p>
          <a:p>
            <a:pPr marL="668338" marR="0" lvl="3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</a:p>
          <a:p>
            <a:pPr marL="801688" marR="0" lvl="4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249DF0-0F34-DA41-87E9-5C93AC15582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085" y="1335928"/>
            <a:ext cx="3780000" cy="283502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534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4000" cy="4507831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120992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5616000" cy="4492029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D15C9-EBC7-A949-ACA5-2F38B8DCE9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20884" y="0"/>
            <a:ext cx="3420000" cy="2196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5884E18-154E-3643-986D-93C309E210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27268" y="2296029"/>
            <a:ext cx="3420000" cy="2196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81597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96D-4454-864F-8C77-E5D94C161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411957"/>
            <a:ext cx="8280400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C531-1ECA-174B-AFC7-F2815E722F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1800" y="1339401"/>
            <a:ext cx="8280400" cy="2791441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8863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E665-0FA3-A64C-B18B-639C1174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411957"/>
            <a:ext cx="8277929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98FA-A1C5-2041-9AF5-9A5DE6A948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2188" y="1329268"/>
            <a:ext cx="3780000" cy="282563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EA6B2-E626-204A-B12E-7AD7DAE9E39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49309" y="1329269"/>
            <a:ext cx="3780000" cy="2825636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7605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4000" cy="4499810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773850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5616000" cy="447871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D15C9-EBC7-A949-ACA5-2F38B8DCE9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48338" y="0"/>
            <a:ext cx="3384000" cy="2196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5884E18-154E-3643-986D-93C309E210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36676" y="2282712"/>
            <a:ext cx="3395662" cy="2196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3355326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96D-4454-864F-8C77-E5D94C161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188" y="411957"/>
            <a:ext cx="7921624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C531-1ECA-174B-AFC7-F2815E722F4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4562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E665-0FA3-A64C-B18B-639C1174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188" y="411957"/>
            <a:ext cx="7921625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98FA-A1C5-2041-9AF5-9A5DE6A948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7679" y="1329268"/>
            <a:ext cx="3600000" cy="323163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EA6B2-E626-204A-B12E-7AD7DAE9E39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18226" y="1329269"/>
            <a:ext cx="3600000" cy="323163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32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63984" y="0"/>
            <a:ext cx="8780016" cy="5143500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973454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5107" y="-1"/>
            <a:ext cx="5260893" cy="5143501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D15C9-EBC7-A949-ACA5-2F38B8DCE9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48338" y="-2"/>
            <a:ext cx="3384000" cy="2511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5884E18-154E-3643-986D-93C309E210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745554" y="2628277"/>
            <a:ext cx="3395662" cy="2511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2921421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96D-4454-864F-8C77-E5D94C161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188" y="411957"/>
            <a:ext cx="7740650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C531-1ECA-174B-AFC7-F2815E722F4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285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E665-0FA3-A64C-B18B-639C1174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190" y="411957"/>
            <a:ext cx="7740649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98FA-A1C5-2041-9AF5-9A5DE6A948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3485" y="1329268"/>
            <a:ext cx="3600000" cy="323163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EA6B2-E626-204A-B12E-7AD7DAE9E39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49549" y="1329269"/>
            <a:ext cx="3600000" cy="323163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34583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3" y="0"/>
            <a:ext cx="8831182" cy="5143500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2085462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" y="-1"/>
            <a:ext cx="5325984" cy="5143501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D15C9-EBC7-A949-ACA5-2F38B8DCE9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25311" y="-2"/>
            <a:ext cx="3384000" cy="2520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5884E18-154E-3643-986D-93C309E210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06485" y="2613368"/>
            <a:ext cx="3395662" cy="2520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4189172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96D-4454-864F-8C77-E5D94C161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019" y="411956"/>
            <a:ext cx="3747753" cy="70663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C531-1ECA-174B-AFC7-F2815E722F4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wrap="square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6A4E5D6C-FE4E-5547-A367-93C8931E4D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73081" y="0"/>
            <a:ext cx="4470919" cy="5143500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12342099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3E72188-FA48-5044-961B-B7C9F0501C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875" y="-1"/>
            <a:ext cx="4490935" cy="5143501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Click icon to insert photo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D15C9-EBC7-A949-ACA5-2F38B8DCE9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85587" y="-2"/>
            <a:ext cx="4464000" cy="2538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5884E18-154E-3643-986D-93C309E210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682803" y="2613368"/>
            <a:ext cx="4464000" cy="2538000"/>
          </a:xfrm>
        </p:spPr>
        <p:txBody>
          <a:bodyPr>
            <a:normAutofit/>
          </a:bodyPr>
          <a:lstStyle>
            <a:lvl1pPr marL="0" marR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lang="en-US" dirty="0"/>
              <a:t>Click icon to insert photo</a:t>
            </a:r>
          </a:p>
        </p:txBody>
      </p:sp>
    </p:spTree>
    <p:extLst>
      <p:ext uri="{BB962C8B-B14F-4D97-AF65-F5344CB8AC3E}">
        <p14:creationId xmlns:p14="http://schemas.microsoft.com/office/powerpoint/2010/main" val="17263737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96D-4454-864F-8C77-E5D94C161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411957"/>
            <a:ext cx="8280400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C531-1ECA-174B-AFC7-F2815E722F4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wrap="square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54832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E665-0FA3-A64C-B18B-639C1174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800" y="411957"/>
            <a:ext cx="8280400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98FA-A1C5-2041-9AF5-9A5DE6A948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4168" y="1335926"/>
            <a:ext cx="3852000" cy="2745583"/>
          </a:xfrm>
        </p:spPr>
        <p:txBody>
          <a:bodyPr wrap="square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EA6B2-E626-204A-B12E-7AD7DAE9E39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0991" y="1335926"/>
            <a:ext cx="3852000" cy="2745583"/>
          </a:xfrm>
        </p:spPr>
        <p:txBody>
          <a:bodyPr wrap="square"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91912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696D-4454-864F-8C77-E5D94C161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163" y="784328"/>
            <a:ext cx="7559674" cy="6055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C531-1ECA-174B-AFC7-F2815E722F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92163" y="1743075"/>
            <a:ext cx="7559675" cy="261609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81555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E665-0FA3-A64C-B18B-639C1174E9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163" y="775252"/>
            <a:ext cx="7556535" cy="5131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98FA-A1C5-2041-9AF5-9A5DE6A948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03692" y="1743075"/>
            <a:ext cx="3600000" cy="262517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EA6B2-E626-204A-B12E-7AD7DAE9E39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748698" y="1743075"/>
            <a:ext cx="3600000" cy="262517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69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8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7EFBD-A17E-0346-9DFB-9AF44597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339401"/>
            <a:ext cx="8280400" cy="2708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D635-17D5-E14C-A795-7E4A424D2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59016" y="4613036"/>
            <a:ext cx="873401" cy="14315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879A7C-ACFF-9743-9232-B25F81E2A560}" type="datetime1">
              <a:rPr lang="en-CA" smtClean="0"/>
              <a:t>2025-08-13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6B22-8D71-534F-9A77-9A7ECF23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27600" y="4613035"/>
            <a:ext cx="564045" cy="147980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|</a:t>
            </a:r>
            <a:fld id="{480B9B7E-F2E9-3646-9A0E-D65304B4FC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A67195B9-169A-AF44-BA69-4AC023F4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48686"/>
            <a:ext cx="8280400" cy="47682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F84FE75-D3D3-6F4B-A71F-518EBBDB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167" y="4626353"/>
            <a:ext cx="5486401" cy="1411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5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/>
              <a:t>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3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71" r:id="rId2"/>
    <p:sldLayoutId id="2147483672" r:id="rId3"/>
    <p:sldLayoutId id="2147483674" r:id="rId4"/>
    <p:sldLayoutId id="2147483677" r:id="rId5"/>
    <p:sldLayoutId id="2147483682" r:id="rId6"/>
  </p:sldLayoutIdLst>
  <p:hf hdr="0"/>
  <p:txStyles>
    <p:titleStyle>
      <a:lvl1pPr algn="l" defTabSz="514350" rtl="0" eaLnBrk="1" latinLnBrk="0" hangingPunct="1">
        <a:lnSpc>
          <a:spcPts val="3075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514350" rtl="0" eaLnBrk="1" latinLnBrk="0" hangingPunct="1">
        <a:lnSpc>
          <a:spcPct val="90000"/>
        </a:lnSpc>
        <a:spcBef>
          <a:spcPts val="563"/>
        </a:spcBef>
        <a:buSzPct val="85000"/>
        <a:buFontTx/>
        <a:buNone/>
        <a:tabLst/>
        <a:defRPr sz="2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7188" indent="-176213" algn="l" defTabSz="514350" rtl="0" eaLnBrk="1" latinLnBrk="0" hangingPunct="1">
        <a:lnSpc>
          <a:spcPct val="90000"/>
        </a:lnSpc>
        <a:spcBef>
          <a:spcPts val="281"/>
        </a:spcBef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533400" indent="-176213" algn="l" defTabSz="514350" rtl="0" eaLnBrk="1" latinLnBrk="0" hangingPunct="1">
        <a:lnSpc>
          <a:spcPct val="90000"/>
        </a:lnSpc>
        <a:spcBef>
          <a:spcPts val="281"/>
        </a:spcBef>
        <a:buSzPct val="85000"/>
        <a:buFont typeface="Wingdings" pitchFamily="2" charset="2"/>
        <a:buChar char="§"/>
        <a:tabLst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68338" indent="-134938" algn="l" defTabSz="514350" rtl="0" eaLnBrk="1" latinLnBrk="0" hangingPunct="1">
        <a:lnSpc>
          <a:spcPct val="90000"/>
        </a:lnSpc>
        <a:spcBef>
          <a:spcPts val="281"/>
        </a:spcBef>
        <a:buSzPct val="85000"/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01688" indent="-133350" algn="l" defTabSz="514350" rtl="0" eaLnBrk="1" latinLnBrk="0" hangingPunct="1">
        <a:lnSpc>
          <a:spcPct val="90000"/>
        </a:lnSpc>
        <a:spcBef>
          <a:spcPts val="281"/>
        </a:spcBef>
        <a:buSzPct val="85000"/>
        <a:buFont typeface="Wingdings" pitchFamily="2" charset="2"/>
        <a:buChar char="§"/>
        <a:tabLst/>
        <a:defRPr sz="1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272" userDrawn="1">
          <p15:clr>
            <a:srgbClr val="F26B43"/>
          </p15:clr>
        </p15:guide>
        <p15:guide id="6" pos="5488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7EFBD-A17E-0346-9DFB-9AF44597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618" y="1339401"/>
            <a:ext cx="8071196" cy="2708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Click to edit text</a:t>
            </a:r>
          </a:p>
          <a:p>
            <a:pPr marL="357188" marR="0" lvl="1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</a:p>
          <a:p>
            <a:pPr marL="533400" marR="0" lvl="2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</a:p>
          <a:p>
            <a:pPr marL="668338" marR="0" lvl="3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</a:p>
          <a:p>
            <a:pPr marL="801688" marR="0" lvl="4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D635-17D5-E14C-A795-7E4A424D2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75058" y="4253023"/>
            <a:ext cx="873401" cy="14315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879A7C-ACFF-9743-9232-B25F81E2A560}" type="datetime1">
              <a:rPr lang="en-CA" smtClean="0"/>
              <a:t>2025-08-13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6B22-8D71-534F-9A77-9A7ECF23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43642" y="4253022"/>
            <a:ext cx="564045" cy="147980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|</a:t>
            </a:r>
            <a:fld id="{480B9B7E-F2E9-3646-9A0E-D65304B4FC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A67195B9-169A-AF44-BA69-4AC023F4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16233"/>
            <a:ext cx="8071196" cy="49397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F84FE75-D3D3-6F4B-A71F-518EBBDB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2188" y="4274361"/>
            <a:ext cx="5486401" cy="1411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5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/>
              <a:t>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89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</p:sldLayoutIdLst>
  <p:hf hdr="0"/>
  <p:txStyles>
    <p:titleStyle>
      <a:lvl1pPr algn="l" defTabSz="514350" rtl="0" eaLnBrk="1" latinLnBrk="0" hangingPunct="1">
        <a:lnSpc>
          <a:spcPts val="41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Pct val="85000"/>
        <a:buFontTx/>
        <a:buNone/>
        <a:tabLst/>
        <a:defRPr sz="2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7188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533400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68338" marR="0" indent="-13493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01688" marR="0" indent="-133350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754" userDrawn="1">
          <p15:clr>
            <a:srgbClr val="F26B43"/>
          </p15:clr>
        </p15:guide>
        <p15:guide id="5" pos="272" userDrawn="1">
          <p15:clr>
            <a:srgbClr val="F26B43"/>
          </p15:clr>
        </p15:guide>
        <p15:guide id="6" pos="5488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7EFBD-A17E-0346-9DFB-9AF44597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188" y="1339401"/>
            <a:ext cx="8260012" cy="2708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Click to edit text</a:t>
            </a:r>
          </a:p>
          <a:p>
            <a:pPr marL="357188" marR="0" lvl="1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</a:p>
          <a:p>
            <a:pPr marL="533400" marR="0" lvl="2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</a:p>
          <a:p>
            <a:pPr marL="668338" marR="0" lvl="3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</a:p>
          <a:p>
            <a:pPr marL="801688" marR="0" lvl="4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D635-17D5-E14C-A795-7E4A424D2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83079" y="4261044"/>
            <a:ext cx="873401" cy="14315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879A7C-ACFF-9743-9232-B25F81E2A560}" type="datetime1">
              <a:rPr lang="en-CA" smtClean="0"/>
              <a:t>2025-08-13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6B22-8D71-534F-9A77-9A7ECF23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51663" y="4261043"/>
            <a:ext cx="564045" cy="147980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|</a:t>
            </a:r>
            <a:fld id="{480B9B7E-F2E9-3646-9A0E-D65304B4FC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A67195B9-169A-AF44-BA69-4AC023F4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188" y="431142"/>
            <a:ext cx="8260012" cy="49397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F84FE75-D3D3-6F4B-A71F-518EBBDB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2188" y="4274361"/>
            <a:ext cx="5486401" cy="1411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5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/>
              <a:t>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8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</p:sldLayoutIdLst>
  <p:hf hdr="0"/>
  <p:txStyles>
    <p:titleStyle>
      <a:lvl1pPr algn="l" defTabSz="514350" rtl="0" eaLnBrk="1" latinLnBrk="0" hangingPunct="1">
        <a:lnSpc>
          <a:spcPts val="41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Pct val="85000"/>
        <a:buFontTx/>
        <a:buNone/>
        <a:tabLst/>
        <a:defRPr sz="2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7188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533400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68338" marR="0" indent="-13493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01688" marR="0" indent="-133350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754" userDrawn="1">
          <p15:clr>
            <a:srgbClr val="F26B43"/>
          </p15:clr>
        </p15:guide>
        <p15:guide id="5" pos="272" userDrawn="1">
          <p15:clr>
            <a:srgbClr val="F26B43"/>
          </p15:clr>
        </p15:guide>
        <p15:guide id="6" pos="5488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7EFBD-A17E-0346-9DFB-9AF44597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1339401"/>
            <a:ext cx="7921624" cy="2708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Click to edit text</a:t>
            </a:r>
          </a:p>
          <a:p>
            <a:pPr marL="357188" marR="0" lvl="1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</a:p>
          <a:p>
            <a:pPr marL="533400" marR="0" lvl="2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</a:p>
          <a:p>
            <a:pPr marL="668338" marR="0" lvl="3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</a:p>
          <a:p>
            <a:pPr marL="801688" marR="0" lvl="4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D635-17D5-E14C-A795-7E4A424D2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98596" y="4718673"/>
            <a:ext cx="873401" cy="14315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879A7C-ACFF-9743-9232-B25F81E2A560}" type="datetime1">
              <a:rPr lang="en-CA" smtClean="0"/>
              <a:t>2025-08-13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6B22-8D71-534F-9A77-9A7ECF23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67180" y="4718672"/>
            <a:ext cx="564045" cy="147980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|</a:t>
            </a:r>
            <a:fld id="{480B9B7E-F2E9-3646-9A0E-D65304B4FC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A67195B9-169A-AF44-BA69-4AC023F4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431142"/>
            <a:ext cx="7921625" cy="49397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F84FE75-D3D3-6F4B-A71F-518EBBDB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885" y="4731990"/>
            <a:ext cx="5486401" cy="1411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5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/>
              <a:t>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70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</p:sldLayoutIdLst>
  <p:hf hdr="0"/>
  <p:txStyles>
    <p:titleStyle>
      <a:lvl1pPr algn="l" defTabSz="514350" rtl="0" eaLnBrk="1" latinLnBrk="0" hangingPunct="1">
        <a:lnSpc>
          <a:spcPts val="41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Pct val="85000"/>
        <a:buFontTx/>
        <a:buNone/>
        <a:tabLst/>
        <a:defRPr sz="2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7188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533400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68338" marR="0" indent="-13493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01688" marR="0" indent="-133350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385" userDrawn="1">
          <p15:clr>
            <a:srgbClr val="F26B43"/>
          </p15:clr>
        </p15:guide>
        <p15:guide id="6" pos="5375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7EFBD-A17E-0346-9DFB-9AF44597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1339401"/>
            <a:ext cx="7740650" cy="31182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Click to edit text</a:t>
            </a:r>
          </a:p>
          <a:p>
            <a:pPr marL="357188" marR="0" lvl="1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</a:p>
          <a:p>
            <a:pPr marL="533400" marR="0" lvl="2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</a:p>
          <a:p>
            <a:pPr marL="668338" marR="0" lvl="3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</a:p>
          <a:p>
            <a:pPr marL="801688" marR="0" lvl="4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D635-17D5-E14C-A795-7E4A424D2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29920" y="4731544"/>
            <a:ext cx="873401" cy="130279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879A7C-ACFF-9743-9232-B25F81E2A560}" type="datetime1">
              <a:rPr lang="en-CA" smtClean="0"/>
              <a:t>2025-08-13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6B22-8D71-534F-9A77-9A7ECF23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98504" y="4736373"/>
            <a:ext cx="564045" cy="130279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|</a:t>
            </a:r>
            <a:fld id="{480B9B7E-F2E9-3646-9A0E-D65304B4FC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A67195B9-169A-AF44-BA69-4AC023F4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9" y="417825"/>
            <a:ext cx="7740650" cy="49397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F84FE75-D3D3-6F4B-A71F-518EBBDB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1189" y="4731544"/>
            <a:ext cx="5486401" cy="1411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5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/>
              <a:t>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75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hf hdr="0"/>
  <p:txStyles>
    <p:titleStyle>
      <a:lvl1pPr algn="l" defTabSz="514350" rtl="0" eaLnBrk="1" latinLnBrk="0" hangingPunct="1">
        <a:lnSpc>
          <a:spcPts val="41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Pct val="85000"/>
        <a:buFontTx/>
        <a:buNone/>
        <a:tabLst/>
        <a:defRPr sz="2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7188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533400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68338" marR="0" indent="-13493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01688" marR="0" indent="-133350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385" userDrawn="1">
          <p15:clr>
            <a:srgbClr val="F26B43"/>
          </p15:clr>
        </p15:guide>
        <p15:guide id="6" pos="5261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7EFBD-A17E-0346-9DFB-9AF44597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885" y="1847088"/>
            <a:ext cx="3747753" cy="26303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Click to edit text</a:t>
            </a:r>
          </a:p>
          <a:p>
            <a:pPr marL="357188" marR="0" lvl="1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</a:p>
          <a:p>
            <a:pPr marL="533400" marR="0" lvl="2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</a:p>
          <a:p>
            <a:pPr marL="668338" marR="0" lvl="3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</a:p>
          <a:p>
            <a:pPr marL="801688" marR="0" lvl="4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D635-17D5-E14C-A795-7E4A424D2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91100" y="4739515"/>
            <a:ext cx="873401" cy="14315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879A7C-ACFF-9743-9232-B25F81E2A560}" type="datetime1">
              <a:rPr lang="en-CA" smtClean="0"/>
              <a:t>2025-08-13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6B22-8D71-534F-9A77-9A7ECF23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59684" y="4736818"/>
            <a:ext cx="564045" cy="129834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|</a:t>
            </a:r>
            <a:fld id="{480B9B7E-F2E9-3646-9A0E-D65304B4FC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A67195B9-169A-AF44-BA69-4AC023F4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05" y="411166"/>
            <a:ext cx="3739733" cy="77046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title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F84FE75-D3D3-6F4B-A71F-518EBBDB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465" y="4731990"/>
            <a:ext cx="3739734" cy="14315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75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/>
              <a:t>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57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2" r:id="rId2"/>
  </p:sldLayoutIdLst>
  <p:hf hdr="0"/>
  <p:txStyles>
    <p:titleStyle>
      <a:lvl1pPr algn="l" defTabSz="514350" rtl="0" eaLnBrk="1" latinLnBrk="0" hangingPunct="1">
        <a:lnSpc>
          <a:spcPts val="41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Pct val="85000"/>
        <a:buFontTx/>
        <a:buNone/>
        <a:tabLst/>
        <a:defRPr sz="2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7188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533400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68338" marR="0" indent="-13493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01688" marR="0" indent="-133350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66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295" userDrawn="1">
          <p15:clr>
            <a:srgbClr val="F26B43"/>
          </p15:clr>
        </p15:guide>
        <p15:guide id="6" pos="5488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  <p15:guide id="9" pos="2653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7EFBD-A17E-0346-9DFB-9AF44597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339401"/>
            <a:ext cx="8280400" cy="27083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Click to edit text</a:t>
            </a:r>
          </a:p>
          <a:p>
            <a:pPr marL="357188" marR="0" lvl="1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</a:p>
          <a:p>
            <a:pPr marL="533400" marR="0" lvl="2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</a:p>
          <a:p>
            <a:pPr marL="668338" marR="0" lvl="3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</a:p>
          <a:p>
            <a:pPr marL="801688" marR="0" lvl="4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D635-17D5-E14C-A795-7E4A424D2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94452" y="4345807"/>
            <a:ext cx="873401" cy="14315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879A7C-ACFF-9743-9232-B25F81E2A560}" type="datetime1">
              <a:rPr lang="en-CA" smtClean="0"/>
              <a:t>2025-08-13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6B22-8D71-534F-9A77-9A7ECF23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3036" y="4345806"/>
            <a:ext cx="564045" cy="147980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|</a:t>
            </a:r>
            <a:fld id="{480B9B7E-F2E9-3646-9A0E-D65304B4FC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A67195B9-169A-AF44-BA69-4AC023F4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31142"/>
            <a:ext cx="8280400" cy="493975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F84FE75-D3D3-6F4B-A71F-518EBBDB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4371824"/>
            <a:ext cx="5486401" cy="1411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5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/>
              <a:t>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43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/>
  <p:txStyles>
    <p:titleStyle>
      <a:lvl1pPr algn="l" defTabSz="514350" rtl="0" eaLnBrk="1" latinLnBrk="0" hangingPunct="1">
        <a:lnSpc>
          <a:spcPts val="41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Pct val="85000"/>
        <a:buFontTx/>
        <a:buNone/>
        <a:tabLst/>
        <a:defRPr sz="2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7188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533400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68338" marR="0" indent="-13493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01688" marR="0" indent="-133350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60" userDrawn="1">
          <p15:clr>
            <a:srgbClr val="F26B43"/>
          </p15:clr>
        </p15:guide>
        <p15:guide id="4" orient="horz" pos="2981" userDrawn="1">
          <p15:clr>
            <a:srgbClr val="F26B43"/>
          </p15:clr>
        </p15:guide>
        <p15:guide id="5" pos="272" userDrawn="1">
          <p15:clr>
            <a:srgbClr val="F26B43"/>
          </p15:clr>
        </p15:guide>
        <p15:guide id="6" pos="5488" userDrawn="1">
          <p15:clr>
            <a:srgbClr val="F26B43"/>
          </p15:clr>
        </p15:guide>
        <p15:guide id="7" orient="horz" pos="583" userDrawn="1">
          <p15:clr>
            <a:srgbClr val="F26B43"/>
          </p15:clr>
        </p15:guide>
        <p15:guide id="8" orient="horz" pos="838" userDrawn="1">
          <p15:clr>
            <a:srgbClr val="F26B43"/>
          </p15:clr>
        </p15:guide>
        <p15:guide id="9" orient="horz" pos="2811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87EFBD-A17E-0346-9DFB-9AF44597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163" y="1761744"/>
            <a:ext cx="7559676" cy="2506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Pct val="85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Click to edit text</a:t>
            </a:r>
          </a:p>
          <a:p>
            <a:pPr marL="357188" marR="0" lvl="1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Second level</a:t>
            </a:r>
          </a:p>
          <a:p>
            <a:pPr marL="533400" marR="0" lvl="2" indent="-176213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Third level</a:t>
            </a:r>
          </a:p>
          <a:p>
            <a:pPr marL="668338" marR="0" lvl="3" indent="-13493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Fourth level</a:t>
            </a:r>
          </a:p>
          <a:p>
            <a:pPr marL="801688" marR="0" lvl="4" indent="-133350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§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2F6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D635-17D5-E14C-A795-7E4A424D2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29681" y="4478662"/>
            <a:ext cx="873401" cy="14315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fld id="{AC879A7C-ACFF-9743-9232-B25F81E2A560}" type="datetime1">
              <a:rPr lang="en-CA" smtClean="0"/>
              <a:t>2025-08-13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16B22-8D71-534F-9A77-9A7ECF23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98265" y="4478661"/>
            <a:ext cx="564045" cy="147980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defRPr sz="75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|</a:t>
            </a:r>
            <a:fld id="{480B9B7E-F2E9-3646-9A0E-D65304B4FCD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D164CC-AF7C-9B41-A01E-8DA48FEE0F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53699"/>
            <a:ext cx="0" cy="0"/>
          </a:xfrm>
          <a:prstGeom prst="rect">
            <a:avLst/>
          </a:prstGeom>
        </p:spPr>
      </p:pic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A67195B9-169A-AF44-BA69-4AC023F41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4" y="796862"/>
            <a:ext cx="7559676" cy="47711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3F84FE75-D3D3-6F4B-A71F-518EBBDB2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0770" y="4491979"/>
            <a:ext cx="5486401" cy="14119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50">
                <a:solidFill>
                  <a:schemeClr val="tx2"/>
                </a:solidFill>
              </a:defRPr>
            </a:lvl1pPr>
          </a:lstStyle>
          <a:p>
            <a:pPr algn="l"/>
            <a:r>
              <a:rPr lang="en-US"/>
              <a:t>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05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hf hdr="0"/>
  <p:txStyles>
    <p:titleStyle>
      <a:lvl1pPr algn="l" defTabSz="514350" rtl="0" eaLnBrk="1" latinLnBrk="0" hangingPunct="1">
        <a:lnSpc>
          <a:spcPts val="41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Pct val="85000"/>
        <a:buFontTx/>
        <a:buNone/>
        <a:tabLst/>
        <a:defRPr sz="2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357188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20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533400" marR="0" indent="-176213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668338" marR="0" indent="-13493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6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801688" marR="0" indent="-133350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Pct val="85000"/>
        <a:buFont typeface="Wingdings" pitchFamily="2" charset="2"/>
        <a:buChar char="§"/>
        <a:tabLst/>
        <a:defRPr sz="14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486" userDrawn="1">
          <p15:clr>
            <a:srgbClr val="F26B43"/>
          </p15:clr>
        </p15:guide>
        <p15:guide id="4" orient="horz" pos="2890" userDrawn="1">
          <p15:clr>
            <a:srgbClr val="F26B43"/>
          </p15:clr>
        </p15:guide>
        <p15:guide id="5" pos="499" userDrawn="1">
          <p15:clr>
            <a:srgbClr val="F26B43"/>
          </p15:clr>
        </p15:guide>
        <p15:guide id="6" pos="5261" userDrawn="1">
          <p15:clr>
            <a:srgbClr val="F26B43"/>
          </p15:clr>
        </p15:guide>
        <p15:guide id="8" orient="horz" pos="10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emf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36804-FBE2-A3AE-0FE1-6871675D8A16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1"/>
            <a:ext cx="9144000" cy="4463786"/>
          </a:xfrm>
        </p:spPr>
        <p:txBody>
          <a:bodyPr anchor="ctr"/>
          <a:lstStyle/>
          <a:p>
            <a:r>
              <a:rPr lang="en-US" dirty="0">
                <a:latin typeface="Aptos" panose="020B0004020202020204" pitchFamily="34" charset="0"/>
              </a:rPr>
              <a:t> 2025 08 14                                      MSc </a:t>
            </a:r>
            <a:r>
              <a:rPr lang="en-US" dirty="0" err="1">
                <a:latin typeface="Aptos" panose="020B0004020202020204" pitchFamily="34" charset="0"/>
              </a:rPr>
              <a:t>Defence</a:t>
            </a:r>
            <a:r>
              <a:rPr lang="en-US" dirty="0">
                <a:latin typeface="Aptos" panose="020B0004020202020204" pitchFamily="34" charset="0"/>
              </a:rPr>
              <a:t> 			             Joshua Issa</a:t>
            </a:r>
          </a:p>
          <a:p>
            <a:pPr algn="ctr"/>
            <a:endParaRPr lang="en-US" sz="2000" b="1" dirty="0">
              <a:latin typeface="Aptos" panose="020B0004020202020204" pitchFamily="34" charset="0"/>
            </a:endParaRPr>
          </a:p>
          <a:p>
            <a:pPr algn="ctr"/>
            <a:endParaRPr lang="en-US" sz="2000" b="1" dirty="0">
              <a:latin typeface="Aptos" panose="020B0004020202020204" pitchFamily="34" charset="0"/>
            </a:endParaRPr>
          </a:p>
          <a:p>
            <a:pPr algn="ctr"/>
            <a:endParaRPr lang="en-US" sz="2000" b="1" dirty="0">
              <a:latin typeface="Aptos" panose="020B0004020202020204" pitchFamily="34" charset="0"/>
            </a:endParaRPr>
          </a:p>
          <a:p>
            <a:pPr algn="ctr"/>
            <a:r>
              <a:rPr lang="en-CA" sz="4000" b="1" dirty="0">
                <a:latin typeface="Aptos" panose="020B0004020202020204" pitchFamily="34" charset="0"/>
              </a:rPr>
              <a:t>    Convective-Reactive Nucleosynthesis in                            Oxygen-Carbon Shell Mergers</a:t>
            </a:r>
          </a:p>
          <a:p>
            <a:pPr algn="ctr"/>
            <a:endParaRPr lang="en-US" sz="2000" b="1" dirty="0">
              <a:latin typeface="Aptos" panose="020B0004020202020204" pitchFamily="34" charset="0"/>
            </a:endParaRPr>
          </a:p>
          <a:p>
            <a:pPr algn="ctr"/>
            <a:endParaRPr lang="en-US" sz="2000" b="1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 Falk Herwig											  Iris Dillmann  </a:t>
            </a:r>
          </a:p>
        </p:txBody>
      </p:sp>
    </p:spTree>
    <p:extLst>
      <p:ext uri="{BB962C8B-B14F-4D97-AF65-F5344CB8AC3E}">
        <p14:creationId xmlns:p14="http://schemas.microsoft.com/office/powerpoint/2010/main" val="3609013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11015-6A6A-4ECA-12DB-A8CED141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65" y="2068426"/>
            <a:ext cx="8216900" cy="1168401"/>
          </a:xfrm>
        </p:spPr>
        <p:txBody>
          <a:bodyPr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Massive stars and the origin of the </a:t>
            </a:r>
            <a:r>
              <a:rPr lang="en-US" b="1" i="1" dirty="0">
                <a:latin typeface="Aptos" panose="020B0004020202020204" pitchFamily="34" charset="0"/>
              </a:rPr>
              <a:t>P </a:t>
            </a:r>
            <a:r>
              <a:rPr lang="en-US" b="1" dirty="0">
                <a:latin typeface="Aptos" panose="020B0004020202020204" pitchFamily="34" charset="0"/>
              </a:rPr>
              <a:t>nuclei</a:t>
            </a:r>
            <a:endParaRPr lang="en-US" b="1" i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087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r - Formation, Evolution, Lifecycle | Britannica">
            <a:extLst>
              <a:ext uri="{FF2B5EF4-FFF2-40B4-BE49-F238E27FC236}">
                <a16:creationId xmlns:a16="http://schemas.microsoft.com/office/drawing/2014/main" id="{1114D92E-B8D4-03BF-2722-4201DF6AEF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17" b="1120"/>
          <a:stretch>
            <a:fillRect/>
          </a:stretch>
        </p:blipFill>
        <p:spPr bwMode="auto">
          <a:xfrm>
            <a:off x="95047" y="10553"/>
            <a:ext cx="8953905" cy="512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575F8D-6210-B5C8-0DAF-FA4830FB931A}"/>
              </a:ext>
            </a:extLst>
          </p:cNvPr>
          <p:cNvCxnSpPr>
            <a:cxnSpLocks/>
          </p:cNvCxnSpPr>
          <p:nvPr/>
        </p:nvCxnSpPr>
        <p:spPr>
          <a:xfrm>
            <a:off x="4323265" y="3554527"/>
            <a:ext cx="925066" cy="0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76F8EFF-E95A-1962-1B0B-2E971A318144}"/>
              </a:ext>
            </a:extLst>
          </p:cNvPr>
          <p:cNvCxnSpPr>
            <a:cxnSpLocks/>
          </p:cNvCxnSpPr>
          <p:nvPr/>
        </p:nvCxnSpPr>
        <p:spPr>
          <a:xfrm>
            <a:off x="2257414" y="3600998"/>
            <a:ext cx="833845" cy="0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823580-83AE-5C46-EFE7-8AE7F4AD28F2}"/>
              </a:ext>
            </a:extLst>
          </p:cNvPr>
          <p:cNvCxnSpPr>
            <a:cxnSpLocks/>
          </p:cNvCxnSpPr>
          <p:nvPr/>
        </p:nvCxnSpPr>
        <p:spPr>
          <a:xfrm>
            <a:off x="945910" y="2963525"/>
            <a:ext cx="585652" cy="441398"/>
          </a:xfrm>
          <a:prstGeom prst="straightConnector1">
            <a:avLst/>
          </a:prstGeom>
          <a:ln w="1270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8E1550F-22B6-DC4A-9F16-FE52DB76DDD8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9252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4A21F-EAD4-9D1C-C9F8-C99F5F38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periodic table&#10;&#10;AI-generated content may be incorrect.">
            <a:extLst>
              <a:ext uri="{FF2B5EF4-FFF2-40B4-BE49-F238E27FC236}">
                <a16:creationId xmlns:a16="http://schemas.microsoft.com/office/drawing/2014/main" id="{67CA8674-D3AC-3564-2E77-AECDB6D7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2" y="416621"/>
            <a:ext cx="9134943" cy="43014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C34669-4CE0-E27D-BCC0-C64DAF517587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11114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3247-77CA-89C3-0733-BFE11849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Massive star burning stages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300E3-B8C0-503F-7975-557B6CE869EE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3</a:t>
            </a:r>
          </a:p>
        </p:txBody>
      </p:sp>
      <p:pic>
        <p:nvPicPr>
          <p:cNvPr id="11" name="Content Placeholder 10" descr="A diagram of a graph&#10;&#10;AI-generated content may be incorrect.">
            <a:extLst>
              <a:ext uri="{FF2B5EF4-FFF2-40B4-BE49-F238E27FC236}">
                <a16:creationId xmlns:a16="http://schemas.microsoft.com/office/drawing/2014/main" id="{69188CBA-4B42-9403-4E85-36E610A8B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449" y="871115"/>
            <a:ext cx="7821809" cy="4004133"/>
          </a:xfrm>
          <a:ln>
            <a:solidFill>
              <a:srgbClr val="000000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2DB62A4-231D-24BD-DFA1-33B9A0DD93F4}"/>
              </a:ext>
            </a:extLst>
          </p:cNvPr>
          <p:cNvSpPr/>
          <p:nvPr/>
        </p:nvSpPr>
        <p:spPr>
          <a:xfrm>
            <a:off x="5347121" y="2682644"/>
            <a:ext cx="1223237" cy="9689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5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7A4EB-9EFC-AAEA-966C-5073C3E2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9ECFD-5EF6-5B28-F8FF-A6550E09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O-C shell mergers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8FAE6-B1D1-78E0-6D42-349A6D9022CB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4</a:t>
            </a:r>
          </a:p>
        </p:txBody>
      </p:sp>
      <p:pic>
        <p:nvPicPr>
          <p:cNvPr id="7" name="Picture 6" descr="A graph of convective c shell&#10;&#10;AI-generated content may be incorrect.">
            <a:extLst>
              <a:ext uri="{FF2B5EF4-FFF2-40B4-BE49-F238E27FC236}">
                <a16:creationId xmlns:a16="http://schemas.microsoft.com/office/drawing/2014/main" id="{66E3CB07-D111-9671-2794-AC97BB28D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160" y="881488"/>
            <a:ext cx="4986317" cy="3952901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514E74-D631-73F9-E9E5-681365309B16}"/>
              </a:ext>
            </a:extLst>
          </p:cNvPr>
          <p:cNvSpPr txBox="1"/>
          <p:nvPr/>
        </p:nvSpPr>
        <p:spPr>
          <a:xfrm>
            <a:off x="431800" y="1094422"/>
            <a:ext cx="317063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Late stage in stellar evolution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20% of 1D massive star models have a shell merger 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(Roberti+2025)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Merger in 1D happens because upper boundary of the O-shell entrains carbon and neon</a:t>
            </a:r>
            <a:endParaRPr lang="en-US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576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589C2-E7FE-9BE7-F3A3-76B3B3E9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6875-72FC-CB05-C5A3-22FA1603F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Unique nucleosynthesis during merger</a:t>
            </a:r>
          </a:p>
        </p:txBody>
      </p:sp>
      <p:pic>
        <p:nvPicPr>
          <p:cNvPr id="6" name="Content Placeholder 5" descr="A diagram of mass number&#10;&#10;AI-generated content may be incorrect.">
            <a:extLst>
              <a:ext uri="{FF2B5EF4-FFF2-40B4-BE49-F238E27FC236}">
                <a16:creationId xmlns:a16="http://schemas.microsoft.com/office/drawing/2014/main" id="{E5C9381F-AB67-2853-266E-59872315C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8653" y="1543849"/>
            <a:ext cx="4737025" cy="2494834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F99126-2303-365F-451E-6EDAD08DA47B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5</a:t>
            </a:r>
          </a:p>
        </p:txBody>
      </p:sp>
      <p:pic>
        <p:nvPicPr>
          <p:cNvPr id="8" name="Picture 7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C48400DD-2E48-1F22-FE2B-C38CD2CC7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15" y="1359183"/>
            <a:ext cx="3699568" cy="2838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D4A93C-4C6C-BF8C-7C79-9145985F9958}"/>
              </a:ext>
            </a:extLst>
          </p:cNvPr>
          <p:cNvSpPr txBox="1"/>
          <p:nvPr/>
        </p:nvSpPr>
        <p:spPr>
          <a:xfrm>
            <a:off x="1253428" y="1167934"/>
            <a:ext cx="228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Light odd-Z elements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D19E86-8901-C0A7-E994-A7059CCE3DCB}"/>
              </a:ext>
            </a:extLst>
          </p:cNvPr>
          <p:cNvSpPr txBox="1"/>
          <p:nvPr/>
        </p:nvSpPr>
        <p:spPr>
          <a:xfrm>
            <a:off x="6057713" y="1440574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The </a:t>
            </a:r>
            <a:r>
              <a:rPr lang="en-US" i="1" dirty="0">
                <a:latin typeface="Aptos" panose="020B0004020202020204" pitchFamily="34" charset="0"/>
              </a:rPr>
              <a:t>p</a:t>
            </a:r>
            <a:r>
              <a:rPr lang="en-US" dirty="0">
                <a:latin typeface="Aptos" panose="020B0004020202020204" pitchFamily="34" charset="0"/>
              </a:rPr>
              <a:t> nuclei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E60EF-035C-A6CE-D2A2-4BC96EFD0A61}"/>
              </a:ext>
            </a:extLst>
          </p:cNvPr>
          <p:cNvSpPr txBox="1"/>
          <p:nvPr/>
        </p:nvSpPr>
        <p:spPr>
          <a:xfrm>
            <a:off x="8153709" y="3705304"/>
            <a:ext cx="8306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Ritter+2018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E9A775-CC3A-7F05-1DC4-F3D422E854B8}"/>
              </a:ext>
            </a:extLst>
          </p:cNvPr>
          <p:cNvSpPr txBox="1"/>
          <p:nvPr/>
        </p:nvSpPr>
        <p:spPr>
          <a:xfrm>
            <a:off x="3312918" y="3951525"/>
            <a:ext cx="931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Roberti+2025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B6A01E-423C-50FB-5A2B-50F953C8ACAD}"/>
              </a:ext>
            </a:extLst>
          </p:cNvPr>
          <p:cNvSpPr/>
          <p:nvPr/>
        </p:nvSpPr>
        <p:spPr>
          <a:xfrm>
            <a:off x="647699" y="1167934"/>
            <a:ext cx="3596883" cy="302981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D728EC-737C-E058-6B51-3CE8D35DF2C5}"/>
              </a:ext>
            </a:extLst>
          </p:cNvPr>
          <p:cNvSpPr/>
          <p:nvPr/>
        </p:nvSpPr>
        <p:spPr>
          <a:xfrm>
            <a:off x="4378652" y="1485900"/>
            <a:ext cx="4657397" cy="246562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3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38A60-9B26-36A2-FD16-6051984B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8D3A9F79-D3D4-37D2-EF15-4890FB945C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2" r="8169"/>
          <a:stretch>
            <a:fillRect/>
          </a:stretch>
        </p:blipFill>
        <p:spPr>
          <a:xfrm>
            <a:off x="4614003" y="1293874"/>
            <a:ext cx="4345047" cy="2250987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AB8A99-7027-A3B9-FFFA-AB842046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latin typeface="Aptos" panose="020B0004020202020204" pitchFamily="34" charset="0"/>
              </a:rPr>
              <a:t>P </a:t>
            </a:r>
            <a:r>
              <a:rPr lang="en-US" b="1" dirty="0">
                <a:latin typeface="Aptos" panose="020B0004020202020204" pitchFamily="34" charset="0"/>
              </a:rPr>
              <a:t>nuclei and the 𝛾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6A713-5E29-B0BA-9F89-1EB948CC3844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6</a:t>
            </a:r>
          </a:p>
        </p:txBody>
      </p:sp>
      <p:pic>
        <p:nvPicPr>
          <p:cNvPr id="8" name="Picture 7" descr="A diagram of a crossword&#10;&#10;AI-generated content may be incorrect.">
            <a:extLst>
              <a:ext uri="{FF2B5EF4-FFF2-40B4-BE49-F238E27FC236}">
                <a16:creationId xmlns:a16="http://schemas.microsoft.com/office/drawing/2014/main" id="{ACB3BAF9-C0A7-7E07-3265-E3E4001658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94"/>
          <a:stretch>
            <a:fillRect/>
          </a:stretch>
        </p:blipFill>
        <p:spPr>
          <a:xfrm>
            <a:off x="121090" y="1293874"/>
            <a:ext cx="4627426" cy="2250989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16DBCE-1AE4-6966-0588-10B70A3168A4}"/>
              </a:ext>
            </a:extLst>
          </p:cNvPr>
          <p:cNvSpPr txBox="1"/>
          <p:nvPr/>
        </p:nvSpPr>
        <p:spPr>
          <a:xfrm>
            <a:off x="121090" y="3298640"/>
            <a:ext cx="10583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Rauscher+2013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FA9615-18CF-F643-9FFE-E2F8BF116744}"/>
              </a:ext>
            </a:extLst>
          </p:cNvPr>
          <p:cNvSpPr txBox="1"/>
          <p:nvPr/>
        </p:nvSpPr>
        <p:spPr>
          <a:xfrm>
            <a:off x="7424655" y="3298641"/>
            <a:ext cx="15343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Woosley &amp; Howard 1978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D26465-D14A-744F-C825-FE67DE842575}"/>
              </a:ext>
            </a:extLst>
          </p:cNvPr>
          <p:cNvSpPr txBox="1"/>
          <p:nvPr/>
        </p:nvSpPr>
        <p:spPr>
          <a:xfrm>
            <a:off x="1385514" y="3961709"/>
            <a:ext cx="6456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𝛾 process is a series of photodisintegrations at 2–3.5 GK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Conditions are met during explosive burning and O-C merger </a:t>
            </a:r>
          </a:p>
        </p:txBody>
      </p:sp>
    </p:spTree>
    <p:extLst>
      <p:ext uri="{BB962C8B-B14F-4D97-AF65-F5344CB8AC3E}">
        <p14:creationId xmlns:p14="http://schemas.microsoft.com/office/powerpoint/2010/main" val="376940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64EB-5604-F010-771B-9CBFE058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4A5E2-2481-FF54-CF6B-B403BF9F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212" y="2472431"/>
            <a:ext cx="8216900" cy="512455"/>
          </a:xfrm>
        </p:spPr>
        <p:txBody>
          <a:bodyPr/>
          <a:lstStyle/>
          <a:p>
            <a:pPr algn="ctr"/>
            <a:r>
              <a:rPr lang="en-US" sz="8000" b="1" dirty="0">
                <a:latin typeface="Aptos" panose="020B0004020202020204" pitchFamily="34" charset="0"/>
              </a:rPr>
              <a:t>Mixing in stars</a:t>
            </a:r>
          </a:p>
        </p:txBody>
      </p:sp>
    </p:spTree>
    <p:extLst>
      <p:ext uri="{BB962C8B-B14F-4D97-AF65-F5344CB8AC3E}">
        <p14:creationId xmlns:p14="http://schemas.microsoft.com/office/powerpoint/2010/main" val="60411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5C96-E80E-ABD0-FCDD-E2B0FB5F4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F19CB58-8D81-E7F4-D3DC-149EED330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902" y="935834"/>
            <a:ext cx="5863908" cy="3909272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7A6E70-CE42-F3FF-CBD7-0373FBBA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latin typeface="Aptos" panose="020B0004020202020204" pitchFamily="34" charset="0"/>
              </a:rPr>
              <a:t>Convective-reactive nucleosynthesis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E5701-DF8E-4292-FB0A-7435D9B54537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01C6AE-6FC9-C7B3-D32D-0048277BABDA}"/>
                  </a:ext>
                </a:extLst>
              </p:cNvPr>
              <p:cNvSpPr txBox="1"/>
              <p:nvPr/>
            </p:nvSpPr>
            <p:spPr>
              <a:xfrm>
                <a:off x="5326466" y="2387548"/>
                <a:ext cx="1799980" cy="8077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CA" sz="2800" i="1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CA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2800" b="0" i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mix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CA" sz="28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2800" i="1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2800" b="0" i="0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react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401C6AE-6FC9-C7B3-D32D-0048277BA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466" y="2387548"/>
                <a:ext cx="1799980" cy="807722"/>
              </a:xfrm>
              <a:prstGeom prst="rect">
                <a:avLst/>
              </a:prstGeom>
              <a:blipFill>
                <a:blip r:embed="rId4"/>
                <a:stretch>
                  <a:fillRect l="-4196" r="-699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FBA98A8-3426-2948-A3D0-65E710E83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2902" y="925117"/>
            <a:ext cx="5863908" cy="3930706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3EF16C0-6E21-748E-6E1D-B8A201D4ED7A}"/>
              </a:ext>
            </a:extLst>
          </p:cNvPr>
          <p:cNvSpPr txBox="1"/>
          <p:nvPr/>
        </p:nvSpPr>
        <p:spPr>
          <a:xfrm>
            <a:off x="253685" y="1141053"/>
            <a:ext cx="267066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The O-shell is convective-reactive 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(Ritter+2018; Yadav+2020)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Occurs when the timescales for mixing and burning are equal 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(</a:t>
            </a:r>
            <a:r>
              <a:rPr lang="en-US" sz="1200" dirty="0" err="1">
                <a:solidFill>
                  <a:schemeClr val="accent2"/>
                </a:solidFill>
                <a:latin typeface="Aptos" panose="020B0004020202020204" pitchFamily="34" charset="0"/>
              </a:rPr>
              <a:t>Dimotakis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 2005)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Composition is no longer homogenized by mixing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Temperature varies across the shell</a:t>
            </a:r>
          </a:p>
        </p:txBody>
      </p:sp>
    </p:spTree>
    <p:extLst>
      <p:ext uri="{BB962C8B-B14F-4D97-AF65-F5344CB8AC3E}">
        <p14:creationId xmlns:p14="http://schemas.microsoft.com/office/powerpoint/2010/main" val="295104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9686-2A6F-CB80-894E-2BEB425D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61486-858C-302C-A407-40745659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Mixing Length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D15A82-FF67-8661-E3A6-AF4005031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1800" y="1339401"/>
                <a:ext cx="3128897" cy="3074657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2"/>
                    </a:solidFill>
                    <a:latin typeface="Aptos" panose="020B0004020202020204" pitchFamily="34" charset="0"/>
                  </a:rPr>
                  <a:t>Convection in 1D stars is modelled with mixing length theory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2"/>
                    </a:solidFill>
                    <a:latin typeface="Aptos" panose="020B0004020202020204" pitchFamily="34" charset="0"/>
                  </a:rPr>
                  <a:t>Fluid parcel of size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r>
                      <a:rPr lang="en-CA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Aptos" panose="020B0004020202020204" pitchFamily="34" charset="0"/>
                  </a:rPr>
                  <a:t> travels average distance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Aptos" panose="020B0004020202020204" pitchFamily="34" charset="0"/>
                  </a:rPr>
                  <a:t> before mixing into surroundings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D15A82-FF67-8661-E3A6-AF4005031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1800" y="1339401"/>
                <a:ext cx="3128897" cy="3074657"/>
              </a:xfrm>
              <a:blipFill>
                <a:blip r:embed="rId2"/>
                <a:stretch>
                  <a:fillRect l="-4858" t="-4115" b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670A06E-D9A3-F67E-3377-E2A50AC8F280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8</a:t>
            </a:r>
          </a:p>
        </p:txBody>
      </p:sp>
      <p:pic>
        <p:nvPicPr>
          <p:cNvPr id="5" name="Picture 4" descr="Several different types of weather conditions&#10;&#10;AI-generated content may be incorrect.">
            <a:extLst>
              <a:ext uri="{FF2B5EF4-FFF2-40B4-BE49-F238E27FC236}">
                <a16:creationId xmlns:a16="http://schemas.microsoft.com/office/drawing/2014/main" id="{E51729A2-7C1B-9482-11CB-6796A211C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697" y="925117"/>
            <a:ext cx="5423689" cy="3881586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680926-E8D8-02F2-6F0C-6F696B5C120B}"/>
              </a:ext>
            </a:extLst>
          </p:cNvPr>
          <p:cNvSpPr txBox="1"/>
          <p:nvPr/>
        </p:nvSpPr>
        <p:spPr>
          <a:xfrm>
            <a:off x="7692016" y="4608432"/>
            <a:ext cx="1223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Joyce &amp; Tayar 2023</a:t>
            </a:r>
          </a:p>
        </p:txBody>
      </p:sp>
    </p:spTree>
    <p:extLst>
      <p:ext uri="{BB962C8B-B14F-4D97-AF65-F5344CB8AC3E}">
        <p14:creationId xmlns:p14="http://schemas.microsoft.com/office/powerpoint/2010/main" val="1012134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881C-7586-6EF3-0469-CAE2F3F8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6CC8-94DD-9F05-4DF9-7FD747683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884" y="407142"/>
            <a:ext cx="5018266" cy="513160"/>
          </a:xfrm>
        </p:spPr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3D hydrodynamics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4AF99-9167-911B-BD1F-FCA80274F30F}"/>
              </a:ext>
            </a:extLst>
          </p:cNvPr>
          <p:cNvSpPr txBox="1"/>
          <p:nvPr/>
        </p:nvSpPr>
        <p:spPr>
          <a:xfrm>
            <a:off x="8835593" y="4834389"/>
            <a:ext cx="29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9</a:t>
            </a:r>
          </a:p>
        </p:txBody>
      </p:sp>
      <p:pic>
        <p:nvPicPr>
          <p:cNvPr id="6" name="Picture 5" descr="A screenshot of a black circle with a purple and orange smoke&#10;&#10;AI-generated content may be incorrect.">
            <a:extLst>
              <a:ext uri="{FF2B5EF4-FFF2-40B4-BE49-F238E27FC236}">
                <a16:creationId xmlns:a16="http://schemas.microsoft.com/office/drawing/2014/main" id="{80A72167-CEF6-B4AC-9BB6-E83883323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01" y="553773"/>
            <a:ext cx="3599723" cy="4280616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3DE021-D052-334A-C0A7-11ECB1BA96CE}"/>
              </a:ext>
            </a:extLst>
          </p:cNvPr>
          <p:cNvSpPr txBox="1">
            <a:spLocks/>
          </p:cNvSpPr>
          <p:nvPr/>
        </p:nvSpPr>
        <p:spPr>
          <a:xfrm>
            <a:off x="8169140" y="4670531"/>
            <a:ext cx="919961" cy="16385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514350" rtl="0" eaLnBrk="1" latinLnBrk="0" hangingPunct="1">
              <a:lnSpc>
                <a:spcPct val="90000"/>
              </a:lnSpc>
              <a:spcBef>
                <a:spcPts val="563"/>
              </a:spcBef>
              <a:buSzPct val="85000"/>
              <a:buFontTx/>
              <a:buNone/>
              <a:tabLst/>
              <a:defRPr sz="24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57188" indent="-176213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20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33400" indent="-176213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8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668338" indent="-13493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6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01688" indent="-133350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4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tx1"/>
                </a:solidFill>
                <a:latin typeface="Aptos" panose="020B0004020202020204" pitchFamily="34" charset="0"/>
              </a:rPr>
              <a:t>Andrassy+2020</a:t>
            </a:r>
          </a:p>
        </p:txBody>
      </p:sp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A3816BE4-7907-B3BD-0D93-89A15F54E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12" y="1060488"/>
            <a:ext cx="5067938" cy="3773901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D9FE13E-EBFF-C6A5-F21C-5A9E9BF829D5}"/>
              </a:ext>
            </a:extLst>
          </p:cNvPr>
          <p:cNvSpPr txBox="1">
            <a:spLocks/>
          </p:cNvSpPr>
          <p:nvPr/>
        </p:nvSpPr>
        <p:spPr>
          <a:xfrm>
            <a:off x="4573546" y="4670532"/>
            <a:ext cx="736681" cy="16385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514350" rtl="0" eaLnBrk="1" latinLnBrk="0" hangingPunct="1">
              <a:lnSpc>
                <a:spcPct val="90000"/>
              </a:lnSpc>
              <a:spcBef>
                <a:spcPts val="563"/>
              </a:spcBef>
              <a:buSzPct val="85000"/>
              <a:buFontTx/>
              <a:buNone/>
              <a:tabLst/>
              <a:defRPr sz="24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57188" indent="-176213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20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33400" indent="-176213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8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668338" indent="-13493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6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01688" indent="-133350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4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Jones+2017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7FFDEC-DC21-7C95-164A-19BFE5AD7120}"/>
              </a:ext>
            </a:extLst>
          </p:cNvPr>
          <p:cNvCxnSpPr>
            <a:cxnSpLocks/>
          </p:cNvCxnSpPr>
          <p:nvPr/>
        </p:nvCxnSpPr>
        <p:spPr>
          <a:xfrm flipV="1">
            <a:off x="3770708" y="2801591"/>
            <a:ext cx="262932" cy="60170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7FF0F0-1425-9472-904B-C03A9CC8BC3C}"/>
              </a:ext>
            </a:extLst>
          </p:cNvPr>
          <p:cNvCxnSpPr>
            <a:cxnSpLocks/>
          </p:cNvCxnSpPr>
          <p:nvPr/>
        </p:nvCxnSpPr>
        <p:spPr>
          <a:xfrm flipH="1">
            <a:off x="3221746" y="1498750"/>
            <a:ext cx="725324" cy="19388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24E8291-1153-F8B8-60D2-F741F02AFE8A}"/>
              </a:ext>
            </a:extLst>
          </p:cNvPr>
          <p:cNvSpPr txBox="1"/>
          <p:nvPr/>
        </p:nvSpPr>
        <p:spPr>
          <a:xfrm>
            <a:off x="3947070" y="1293275"/>
            <a:ext cx="503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</a:rPr>
              <a:t>3D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C8B50C-F721-209D-742D-D86E6D90090C}"/>
              </a:ext>
            </a:extLst>
          </p:cNvPr>
          <p:cNvCxnSpPr>
            <a:cxnSpLocks/>
          </p:cNvCxnSpPr>
          <p:nvPr/>
        </p:nvCxnSpPr>
        <p:spPr>
          <a:xfrm flipV="1">
            <a:off x="2591702" y="2404279"/>
            <a:ext cx="456060" cy="5431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8DF5435-E650-C8A0-ECAB-F513DC919147}"/>
              </a:ext>
            </a:extLst>
          </p:cNvPr>
          <p:cNvSpPr txBox="1"/>
          <p:nvPr/>
        </p:nvSpPr>
        <p:spPr>
          <a:xfrm>
            <a:off x="2078017" y="2898143"/>
            <a:ext cx="654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Aptos" panose="020B0004020202020204" pitchFamily="34" charset="0"/>
              </a:rPr>
              <a:t>MLT</a:t>
            </a:r>
          </a:p>
        </p:txBody>
      </p:sp>
    </p:spTree>
    <p:extLst>
      <p:ext uri="{BB962C8B-B14F-4D97-AF65-F5344CB8AC3E}">
        <p14:creationId xmlns:p14="http://schemas.microsoft.com/office/powerpoint/2010/main" val="162229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9EF09-3928-6E09-1E2F-2B665E40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ext on a page&#10;&#10;AI-generated content may be incorrect.">
            <a:extLst>
              <a:ext uri="{FF2B5EF4-FFF2-40B4-BE49-F238E27FC236}">
                <a16:creationId xmlns:a16="http://schemas.microsoft.com/office/drawing/2014/main" id="{CF67F241-5851-FB12-D1BF-2067A749B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922" y="126931"/>
            <a:ext cx="6246156" cy="4889637"/>
          </a:xfrm>
          <a:prstGeom prst="rect">
            <a:avLst/>
          </a:prstGeom>
          <a:ln>
            <a:solidFill>
              <a:srgbClr val="000000"/>
            </a:solidFill>
          </a:ln>
          <a:effectLst>
            <a:innerShdw blurRad="1143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222962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3974B-A7CA-6F2D-7770-BC754AA9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5FEF-0872-C6B9-B4C3-F4A67B9CB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700" y="494507"/>
            <a:ext cx="3022600" cy="513160"/>
          </a:xfrm>
        </p:spPr>
        <p:txBody>
          <a:bodyPr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Modelling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CF945E9F-B7EF-8D47-03D1-E09090EE447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58918993"/>
                  </p:ext>
                </p:extLst>
              </p:nvPr>
            </p:nvGraphicFramePr>
            <p:xfrm>
              <a:off x="2552700" y="1288601"/>
              <a:ext cx="4038600" cy="30746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CF945E9F-B7EF-8D47-03D1-E09090EE447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458918993"/>
                  </p:ext>
                </p:extLst>
              </p:nvPr>
            </p:nvGraphicFramePr>
            <p:xfrm>
              <a:off x="2552700" y="1288601"/>
              <a:ext cx="4038600" cy="30746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2FE753-B801-1F91-3402-6031646E1CD1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18331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649C2-E085-E06B-A1AB-489F13CE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50965-8E27-A349-76C6-45608A3A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Determining Mixing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22BF7-8615-8413-992A-A54DF56EA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479" y="3444372"/>
            <a:ext cx="4388038" cy="142381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Aptos" panose="020B0004020202020204" pitchFamily="34" charset="0"/>
              </a:rPr>
              <a:t>Downturn at boundary 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(Meakin+ 2006, 2007; Jones+2017)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Aptos" panose="020B0004020202020204" pitchFamily="34" charset="0"/>
              </a:rPr>
              <a:t>Boost in mixing 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(Jones+2017; Andrassy+2020; Rizzuti+2024)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Aptos" panose="020B0004020202020204" pitchFamily="34" charset="0"/>
              </a:rPr>
              <a:t>Lowering ingestion rates 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(Andrassy+2020)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2D761-06B4-C1E3-F56B-5BC09F19CC5E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11</a:t>
            </a:r>
          </a:p>
        </p:txBody>
      </p:sp>
      <p:pic>
        <p:nvPicPr>
          <p:cNvPr id="6" name="Picture 5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FBCFBFB8-7224-E335-29CC-B702C0DE0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80" y="925117"/>
            <a:ext cx="3776635" cy="2484854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graph of a person's reaction&#10;&#10;AI-generated content may be incorrect.">
            <a:extLst>
              <a:ext uri="{FF2B5EF4-FFF2-40B4-BE49-F238E27FC236}">
                <a16:creationId xmlns:a16="http://schemas.microsoft.com/office/drawing/2014/main" id="{46A333C0-EDAE-E45F-36AF-24E3783CD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748" y="916532"/>
            <a:ext cx="3828740" cy="2527839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E62012-06AE-0603-449E-6D3306655D11}"/>
              </a:ext>
            </a:extLst>
          </p:cNvPr>
          <p:cNvSpPr txBox="1">
            <a:spLocks/>
          </p:cNvSpPr>
          <p:nvPr/>
        </p:nvSpPr>
        <p:spPr>
          <a:xfrm>
            <a:off x="4986200" y="3465406"/>
            <a:ext cx="3914321" cy="126613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514350" rtl="0" eaLnBrk="1" latinLnBrk="0" hangingPunct="1">
              <a:lnSpc>
                <a:spcPct val="90000"/>
              </a:lnSpc>
              <a:spcBef>
                <a:spcPts val="563"/>
              </a:spcBef>
              <a:buSzPct val="85000"/>
              <a:buFontTx/>
              <a:buNone/>
              <a:tabLst/>
              <a:defRPr sz="24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57188" indent="-176213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20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33400" indent="-176213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8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668338" indent="-13493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6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801688" indent="-133350" algn="l" defTabSz="514350" rtl="0" eaLnBrk="1" latinLnBrk="0" hangingPunct="1">
              <a:lnSpc>
                <a:spcPct val="90000"/>
              </a:lnSpc>
              <a:spcBef>
                <a:spcPts val="281"/>
              </a:spcBef>
              <a:buSzPct val="85000"/>
              <a:buFont typeface="Wingdings" pitchFamily="2" charset="2"/>
              <a:buChar char="§"/>
              <a:tabLst/>
              <a:defRPr sz="1400" b="0" i="0" kern="1200">
                <a:solidFill>
                  <a:schemeClr val="tx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2"/>
                </a:solidFill>
                <a:latin typeface="Aptos" panose="020B0004020202020204" pitchFamily="34" charset="0"/>
              </a:rPr>
              <a:t>Convective quenching from partial merger and energy feedback 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(Andrassy+2020)</a:t>
            </a:r>
          </a:p>
        </p:txBody>
      </p:sp>
    </p:spTree>
    <p:extLst>
      <p:ext uri="{BB962C8B-B14F-4D97-AF65-F5344CB8AC3E}">
        <p14:creationId xmlns:p14="http://schemas.microsoft.com/office/powerpoint/2010/main" val="3789252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1675D-E02C-69CC-1EE5-E6976A6C8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26BA-07F9-EE18-F2DC-2A7CBE4C9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Determining reaction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454E3-15AC-8A4C-3FB2-1AA95EA27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339401"/>
            <a:ext cx="3799330" cy="30324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Varied all  photodisintegration rates for unstable </a:t>
            </a:r>
            <a:r>
              <a:rPr lang="en-US" i="1" dirty="0">
                <a:solidFill>
                  <a:schemeClr val="accent2"/>
                </a:solidFill>
                <a:latin typeface="Aptos" panose="020B0004020202020204" pitchFamily="34" charset="0"/>
              </a:rPr>
              <a:t>n-</a:t>
            </a: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deficient isotopes from Se-Po up and down by a factor of 10 </a:t>
            </a:r>
            <a:r>
              <a:rPr lang="en-US" sz="1200" dirty="0">
                <a:solidFill>
                  <a:schemeClr val="accent2"/>
                </a:solidFill>
                <a:latin typeface="Aptos" panose="020B0004020202020204" pitchFamily="34" charset="0"/>
              </a:rPr>
              <a:t>(Denissenkov+2018, 2021)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  <a:latin typeface="Aptos" panose="020B0004020202020204" pitchFamily="34" charset="0"/>
              </a:rPr>
              <a:t>Relevant reaction rates correlated with isotope production are determined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1ECA6-55DC-A098-A36A-925D582A3410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12</a:t>
            </a:r>
          </a:p>
        </p:txBody>
      </p:sp>
      <p:pic>
        <p:nvPicPr>
          <p:cNvPr id="8" name="Picture 7" descr="A diagram of a number of electrons&#10;&#10;AI-generated content may be incorrect.">
            <a:extLst>
              <a:ext uri="{FF2B5EF4-FFF2-40B4-BE49-F238E27FC236}">
                <a16:creationId xmlns:a16="http://schemas.microsoft.com/office/drawing/2014/main" id="{2D9FADF1-6BCF-A23C-4611-2D49A55D8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41313"/>
            <a:ext cx="4350040" cy="2876879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8907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4502F-5547-ABD4-04D5-389C725B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A6B7-2237-C9E9-2346-A3A5C55D5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31" y="2312817"/>
            <a:ext cx="8721969" cy="517865"/>
          </a:xfrm>
        </p:spPr>
        <p:txBody>
          <a:bodyPr/>
          <a:lstStyle/>
          <a:p>
            <a:pPr algn="ctr"/>
            <a:r>
              <a:rPr lang="en-US" sz="3600" b="1" dirty="0">
                <a:latin typeface="Aptos" panose="020B0004020202020204" pitchFamily="34" charset="0"/>
              </a:rPr>
              <a:t>Impact from mixing and reactions</a:t>
            </a:r>
          </a:p>
        </p:txBody>
      </p:sp>
    </p:spTree>
    <p:extLst>
      <p:ext uri="{BB962C8B-B14F-4D97-AF65-F5344CB8AC3E}">
        <p14:creationId xmlns:p14="http://schemas.microsoft.com/office/powerpoint/2010/main" val="158571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D28E0-B008-C23F-1EC1-A93FE629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1DBB-E81D-CD8A-00A8-A10D32E3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Aptos" panose="020B0004020202020204" pitchFamily="34" charset="0"/>
              </a:rPr>
              <a:t>Nucleosynthesis in the merger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EB697-C50A-58DB-8F0D-A475F6EC196A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13</a:t>
            </a:r>
          </a:p>
        </p:txBody>
      </p:sp>
      <p:pic>
        <p:nvPicPr>
          <p:cNvPr id="8" name="Picture 7" descr="A graph of a mass&#10;&#10;AI-generated content may be incorrect.">
            <a:extLst>
              <a:ext uri="{FF2B5EF4-FFF2-40B4-BE49-F238E27FC236}">
                <a16:creationId xmlns:a16="http://schemas.microsoft.com/office/drawing/2014/main" id="{4566D242-E4A3-F836-5523-6C1C56CFE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50" y="1323935"/>
            <a:ext cx="4471633" cy="2953832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diagram of a mass diagram&#10;&#10;AI-generated content may be incorrect.">
            <a:extLst>
              <a:ext uri="{FF2B5EF4-FFF2-40B4-BE49-F238E27FC236}">
                <a16:creationId xmlns:a16="http://schemas.microsoft.com/office/drawing/2014/main" id="{43AF1652-94D7-9DB4-0BC3-64DED1774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7" y="1323935"/>
            <a:ext cx="4476583" cy="2953832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644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68FAC-5E88-9F61-6084-351433ED9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15F5-1288-B408-F3CE-AAC13C164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Velocities impact BY AVERAGE factor of 9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9199A0-4E4E-8C98-DED7-D68DD366F11C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14</a:t>
            </a:r>
          </a:p>
        </p:txBody>
      </p:sp>
      <p:pic>
        <p:nvPicPr>
          <p:cNvPr id="8" name="Picture 7" descr="A graph of different colored dots and numbers&#10;&#10;AI-generated content may be incorrect.">
            <a:extLst>
              <a:ext uri="{FF2B5EF4-FFF2-40B4-BE49-F238E27FC236}">
                <a16:creationId xmlns:a16="http://schemas.microsoft.com/office/drawing/2014/main" id="{3AB277CB-BFF8-88DE-84C8-0AED1B27A9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95"/>
          <a:stretch>
            <a:fillRect/>
          </a:stretch>
        </p:blipFill>
        <p:spPr>
          <a:xfrm>
            <a:off x="319228" y="925117"/>
            <a:ext cx="8813950" cy="36532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4483A9-9544-0A3B-D463-88CB59DAB6D6}"/>
                  </a:ext>
                </a:extLst>
              </p:cNvPr>
              <p:cNvSpPr txBox="1"/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OP</m:t>
                      </m:r>
                      <m: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final</m:t>
                                  </m:r>
                                </m:sub>
                              </m:sSub>
                              <m: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sSub>
                                <m:sSubPr>
                                  <m:ctrlP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initial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4483A9-9544-0A3B-D463-88CB59DAB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blipFill>
                <a:blip r:embed="rId3"/>
                <a:stretch>
                  <a:fillRect r="-35000"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C20697D8-07E9-9A15-3454-D853603927E1}"/>
              </a:ext>
            </a:extLst>
          </p:cNvPr>
          <p:cNvSpPr/>
          <p:nvPr/>
        </p:nvSpPr>
        <p:spPr>
          <a:xfrm>
            <a:off x="1628604" y="1650249"/>
            <a:ext cx="465317" cy="9215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84BDA4-F2E5-2E75-7C57-1609A6347C5E}"/>
              </a:ext>
            </a:extLst>
          </p:cNvPr>
          <p:cNvSpPr/>
          <p:nvPr/>
        </p:nvSpPr>
        <p:spPr>
          <a:xfrm>
            <a:off x="2093921" y="1650248"/>
            <a:ext cx="465317" cy="9215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EAC96B-6CD9-2D92-EA69-A79ADB982C09}"/>
              </a:ext>
            </a:extLst>
          </p:cNvPr>
          <p:cNvSpPr/>
          <p:nvPr/>
        </p:nvSpPr>
        <p:spPr>
          <a:xfrm>
            <a:off x="2749511" y="1650248"/>
            <a:ext cx="465317" cy="9215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E1F7C7-BC6A-816D-0586-5BA45289732B}"/>
              </a:ext>
            </a:extLst>
          </p:cNvPr>
          <p:cNvSpPr/>
          <p:nvPr/>
        </p:nvSpPr>
        <p:spPr>
          <a:xfrm>
            <a:off x="4333929" y="1650247"/>
            <a:ext cx="465317" cy="9215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B9B9B4-9CC7-426E-4940-F54CE638C6A4}"/>
              </a:ext>
            </a:extLst>
          </p:cNvPr>
          <p:cNvSpPr/>
          <p:nvPr/>
        </p:nvSpPr>
        <p:spPr>
          <a:xfrm>
            <a:off x="4799246" y="1650246"/>
            <a:ext cx="465317" cy="9215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F64D3C-3D2D-905C-2612-DB2BFFB222B4}"/>
              </a:ext>
            </a:extLst>
          </p:cNvPr>
          <p:cNvSpPr/>
          <p:nvPr/>
        </p:nvSpPr>
        <p:spPr>
          <a:xfrm>
            <a:off x="5453029" y="1350695"/>
            <a:ext cx="465317" cy="9215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2F2778-A7FA-6D74-3AC8-EA7C4CF80D97}"/>
              </a:ext>
            </a:extLst>
          </p:cNvPr>
          <p:cNvSpPr/>
          <p:nvPr/>
        </p:nvSpPr>
        <p:spPr>
          <a:xfrm>
            <a:off x="6339470" y="1650244"/>
            <a:ext cx="465317" cy="9215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FC9C87-470C-C28E-6F76-D8EA921AE6CD}"/>
              </a:ext>
            </a:extLst>
          </p:cNvPr>
          <p:cNvSpPr/>
          <p:nvPr/>
        </p:nvSpPr>
        <p:spPr>
          <a:xfrm>
            <a:off x="6804788" y="1650243"/>
            <a:ext cx="465317" cy="92150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B635DC-85AF-F80B-F0D1-06168EBF02BE}"/>
              </a:ext>
            </a:extLst>
          </p:cNvPr>
          <p:cNvSpPr/>
          <p:nvPr/>
        </p:nvSpPr>
        <p:spPr>
          <a:xfrm>
            <a:off x="3461048" y="1249861"/>
            <a:ext cx="640222" cy="132188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1EB187-3C26-2DDC-0E01-75A0CFE95AFF}"/>
              </a:ext>
            </a:extLst>
          </p:cNvPr>
          <p:cNvSpPr txBox="1"/>
          <p:nvPr/>
        </p:nvSpPr>
        <p:spPr>
          <a:xfrm>
            <a:off x="3311769" y="2674157"/>
            <a:ext cx="2828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Non-monotonic change and impacts pairs differently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8BA65A-C710-2904-4EC2-3A6351426A9B}"/>
              </a:ext>
            </a:extLst>
          </p:cNvPr>
          <p:cNvSpPr/>
          <p:nvPr/>
        </p:nvSpPr>
        <p:spPr>
          <a:xfrm>
            <a:off x="0" y="925117"/>
            <a:ext cx="9133178" cy="365327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4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1C60-0DC0-3373-C162-68DD1541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60B02-3419-FB14-D5B8-A0536D083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Ingestion rate impacts up to average factor of 70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F0FA0A-5B34-A3E5-52FE-72DFA9CE60C4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15</a:t>
            </a:r>
          </a:p>
        </p:txBody>
      </p:sp>
      <p:pic>
        <p:nvPicPr>
          <p:cNvPr id="6" name="Picture 5" descr="A graph with blue and white dots&#10;&#10;AI-generated content may be incorrect.">
            <a:extLst>
              <a:ext uri="{FF2B5EF4-FFF2-40B4-BE49-F238E27FC236}">
                <a16:creationId xmlns:a16="http://schemas.microsoft.com/office/drawing/2014/main" id="{318CF4B6-105E-A400-85AC-660E2B5D0B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8"/>
          <a:stretch>
            <a:fillRect/>
          </a:stretch>
        </p:blipFill>
        <p:spPr>
          <a:xfrm>
            <a:off x="297586" y="925117"/>
            <a:ext cx="8835593" cy="36532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871436-AF5F-A82C-628C-2A3325914527}"/>
                  </a:ext>
                </a:extLst>
              </p:cNvPr>
              <p:cNvSpPr txBox="1"/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OP</m:t>
                      </m:r>
                      <m: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final</m:t>
                                  </m:r>
                                </m:sub>
                              </m:sSub>
                              <m: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sSub>
                                <m:sSubPr>
                                  <m:ctrlP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initial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871436-AF5F-A82C-628C-2A3325914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blipFill>
                <a:blip r:embed="rId3"/>
                <a:stretch>
                  <a:fillRect r="-35000"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0D4D845-0434-3DD2-9CFE-3FC01E95F3B2}"/>
              </a:ext>
            </a:extLst>
          </p:cNvPr>
          <p:cNvSpPr/>
          <p:nvPr/>
        </p:nvSpPr>
        <p:spPr>
          <a:xfrm>
            <a:off x="0" y="925117"/>
            <a:ext cx="9133178" cy="365327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87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15F1B-D257-4980-6665-3733CDD5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1937-CB1B-90BC-9C7F-AD0FB619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600" b="1" dirty="0">
                <a:latin typeface="Aptos" panose="020B0004020202020204" pitchFamily="34" charset="0"/>
              </a:rPr>
              <a:t>Quenching reduces by average factor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61CFB2-6333-18EC-56C3-C89BA642E2AA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16</a:t>
            </a:r>
          </a:p>
        </p:txBody>
      </p:sp>
      <p:pic>
        <p:nvPicPr>
          <p:cNvPr id="6" name="Picture 5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DDEF6DC3-2699-41D7-E05F-81D9E64BA1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77"/>
          <a:stretch>
            <a:fillRect/>
          </a:stretch>
        </p:blipFill>
        <p:spPr>
          <a:xfrm>
            <a:off x="281354" y="925117"/>
            <a:ext cx="8862646" cy="3657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7F623E-8068-1CE9-067A-61602F8962FD}"/>
                  </a:ext>
                </a:extLst>
              </p:cNvPr>
              <p:cNvSpPr txBox="1"/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OP</m:t>
                      </m:r>
                      <m: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final</m:t>
                                  </m:r>
                                </m:sub>
                              </m:sSub>
                              <m: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sSub>
                                <m:sSubPr>
                                  <m:ctrlP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initial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7F623E-8068-1CE9-067A-61602F89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blipFill>
                <a:blip r:embed="rId3"/>
                <a:stretch>
                  <a:fillRect r="-35000"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72C64B79-B8E7-CA90-3D8A-328ACB2F8ECF}"/>
              </a:ext>
            </a:extLst>
          </p:cNvPr>
          <p:cNvSpPr/>
          <p:nvPr/>
        </p:nvSpPr>
        <p:spPr>
          <a:xfrm>
            <a:off x="0" y="925117"/>
            <a:ext cx="9133178" cy="365327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66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7184D-CFF2-63AA-B9A5-A056A496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A7F51-CB06-B0A0-6E65-33DC51DF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Mixing overall impacts by average factor of 280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63A38-450E-2FD6-512B-779EFEFDB9E7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17</a:t>
            </a:r>
          </a:p>
        </p:txBody>
      </p:sp>
      <p:pic>
        <p:nvPicPr>
          <p:cNvPr id="10" name="Picture 9" descr="A graph with pink bars&#10;&#10;AI-generated content may be incorrect.">
            <a:extLst>
              <a:ext uri="{FF2B5EF4-FFF2-40B4-BE49-F238E27FC236}">
                <a16:creationId xmlns:a16="http://schemas.microsoft.com/office/drawing/2014/main" id="{07ED1F75-C4F4-240E-84A3-D79DE1EDCA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0"/>
          <a:stretch>
            <a:fillRect/>
          </a:stretch>
        </p:blipFill>
        <p:spPr>
          <a:xfrm>
            <a:off x="292174" y="925117"/>
            <a:ext cx="8837793" cy="36519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725758-6418-EB26-12C0-B9D99FDFEA9B}"/>
                  </a:ext>
                </a:extLst>
              </p:cNvPr>
              <p:cNvSpPr txBox="1"/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OP</m:t>
                      </m:r>
                      <m: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final</m:t>
                                  </m:r>
                                </m:sub>
                              </m:sSub>
                              <m: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sSub>
                                <m:sSubPr>
                                  <m:ctrlP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initial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725758-6418-EB26-12C0-B9D99FDFE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blipFill>
                <a:blip r:embed="rId3"/>
                <a:stretch>
                  <a:fillRect r="-35000"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3A0F460-764D-E48A-45A9-EB6FA83DB18F}"/>
              </a:ext>
            </a:extLst>
          </p:cNvPr>
          <p:cNvSpPr/>
          <p:nvPr/>
        </p:nvSpPr>
        <p:spPr>
          <a:xfrm>
            <a:off x="0" y="925117"/>
            <a:ext cx="9133178" cy="365327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79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08909-5B4C-D398-18CF-BFF1700D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D9B1-98D3-BAAD-E7F8-5CB28EB1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200" b="1" dirty="0">
                <a:latin typeface="Aptos" panose="020B0004020202020204" pitchFamily="34" charset="0"/>
              </a:rPr>
              <a:t>Nuclear reactions impact up to average factor of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EE6EE-8EF0-AD43-5B57-00F6E071E947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18</a:t>
            </a:r>
          </a:p>
        </p:txBody>
      </p:sp>
      <p:pic>
        <p:nvPicPr>
          <p:cNvPr id="6" name="Picture 5" descr="A graph of different colored circles&#10;&#10;AI-generated content may be incorrect.">
            <a:extLst>
              <a:ext uri="{FF2B5EF4-FFF2-40B4-BE49-F238E27FC236}">
                <a16:creationId xmlns:a16="http://schemas.microsoft.com/office/drawing/2014/main" id="{391F7BA3-E356-CCAB-6534-38BFA121D6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8"/>
          <a:stretch>
            <a:fillRect/>
          </a:stretch>
        </p:blipFill>
        <p:spPr>
          <a:xfrm>
            <a:off x="297586" y="872334"/>
            <a:ext cx="8835593" cy="38632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CBA469-9EAF-5261-3560-F3559D924A2C}"/>
                  </a:ext>
                </a:extLst>
              </p:cNvPr>
              <p:cNvSpPr txBox="1"/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OP</m:t>
                      </m:r>
                      <m:r>
                        <a:rPr lang="en-CA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CA" sz="16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final</m:t>
                                  </m:r>
                                </m:sub>
                              </m:sSub>
                              <m:r>
                                <a:rPr lang="en-CA" sz="1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sSub>
                                <m:sSubPr>
                                  <m:ctrlP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sz="16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CA" sz="1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initial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CBA469-9EAF-5261-3560-F3559D924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026940" y="2450644"/>
                <a:ext cx="2446118" cy="246221"/>
              </a:xfrm>
              <a:prstGeom prst="rect">
                <a:avLst/>
              </a:prstGeom>
              <a:blipFill>
                <a:blip r:embed="rId3"/>
                <a:stretch>
                  <a:fillRect r="-35000"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67FCDB4-C830-9F8C-B6CF-AB807E3E46F0}"/>
              </a:ext>
            </a:extLst>
          </p:cNvPr>
          <p:cNvSpPr/>
          <p:nvPr/>
        </p:nvSpPr>
        <p:spPr>
          <a:xfrm>
            <a:off x="0" y="872334"/>
            <a:ext cx="9133178" cy="3859209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90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C85F16-D8D9-40F7-4434-19FF4A61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3EDEA-E127-FDD6-1BDD-8D416A53F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65122"/>
            <a:ext cx="8280400" cy="513160"/>
          </a:xfrm>
        </p:spPr>
        <p:txBody>
          <a:bodyPr/>
          <a:lstStyle/>
          <a:p>
            <a:pPr algn="ctr"/>
            <a:r>
              <a:rPr lang="en-US" sz="2800" b="1" dirty="0">
                <a:latin typeface="Aptos" panose="020B0004020202020204" pitchFamily="34" charset="0"/>
              </a:rPr>
              <a:t>Correlations depend on mixing 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FF42DC-8DF0-128C-A6BD-0AA03DBF7D77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19</a:t>
            </a:r>
          </a:p>
        </p:txBody>
      </p:sp>
      <p:pic>
        <p:nvPicPr>
          <p:cNvPr id="12" name="Picture 11" descr="A table of text with black and white text&#10;&#10;AI-generated content may be incorrect.">
            <a:extLst>
              <a:ext uri="{FF2B5EF4-FFF2-40B4-BE49-F238E27FC236}">
                <a16:creationId xmlns:a16="http://schemas.microsoft.com/office/drawing/2014/main" id="{043786C3-03F3-F71E-4AC3-3B58F0852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63" y="714205"/>
            <a:ext cx="3713214" cy="4164173"/>
          </a:xfrm>
          <a:prstGeom prst="rect">
            <a:avLst/>
          </a:prstGeom>
        </p:spPr>
      </p:pic>
      <p:pic>
        <p:nvPicPr>
          <p:cNvPr id="16" name="Picture 15" descr="A table of chemical formulas&#10;&#10;AI-generated content may be incorrect.">
            <a:extLst>
              <a:ext uri="{FF2B5EF4-FFF2-40B4-BE49-F238E27FC236}">
                <a16:creationId xmlns:a16="http://schemas.microsoft.com/office/drawing/2014/main" id="{AAC08BAF-1A62-B641-708E-D839AA722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340" y="723061"/>
            <a:ext cx="4395707" cy="415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02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1FC14D-061D-A0AD-34A1-C548BBBF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2617-61B0-1874-F5E7-50AB238D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65122"/>
            <a:ext cx="8280400" cy="513160"/>
          </a:xfrm>
        </p:spPr>
        <p:txBody>
          <a:bodyPr/>
          <a:lstStyle/>
          <a:p>
            <a:pPr algn="ctr"/>
            <a:r>
              <a:rPr lang="en-US" sz="3000" b="1" dirty="0">
                <a:latin typeface="Aptos" panose="020B0004020202020204" pitchFamily="34" charset="0"/>
              </a:rPr>
              <a:t>shared correlations across all cases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636CB-0731-1F3E-F269-94BE93826B24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20</a:t>
            </a:r>
          </a:p>
        </p:txBody>
      </p:sp>
      <p:pic>
        <p:nvPicPr>
          <p:cNvPr id="7" name="Picture 6" descr="A table of scientific formulas&#10;&#10;AI-generated content may be incorrect.">
            <a:extLst>
              <a:ext uri="{FF2B5EF4-FFF2-40B4-BE49-F238E27FC236}">
                <a16:creationId xmlns:a16="http://schemas.microsoft.com/office/drawing/2014/main" id="{308298CE-6043-3A8C-B286-39B274B07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27" y="1117600"/>
            <a:ext cx="3733800" cy="2908300"/>
          </a:xfrm>
          <a:prstGeom prst="rect">
            <a:avLst/>
          </a:prstGeom>
        </p:spPr>
      </p:pic>
      <p:pic>
        <p:nvPicPr>
          <p:cNvPr id="9" name="Picture 8" descr="A table of maths&#10;&#10;AI-generated content may be incorrect.">
            <a:extLst>
              <a:ext uri="{FF2B5EF4-FFF2-40B4-BE49-F238E27FC236}">
                <a16:creationId xmlns:a16="http://schemas.microsoft.com/office/drawing/2014/main" id="{817F291C-855E-3FE4-586E-BFE703815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274" y="1117600"/>
            <a:ext cx="4027926" cy="290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35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2F791-BA99-C931-D90F-C244BE0F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1008-23CD-6807-56E5-55C92207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875B3-377A-DF37-05A9-41A8E28D7B48}"/>
              </a:ext>
            </a:extLst>
          </p:cNvPr>
          <p:cNvSpPr txBox="1"/>
          <p:nvPr/>
        </p:nvSpPr>
        <p:spPr>
          <a:xfrm>
            <a:off x="8667863" y="4834389"/>
            <a:ext cx="46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  <a:latin typeface="Aptos" panose="020B0004020202020204" pitchFamily="34" charset="0"/>
              </a:rPr>
              <a:t>21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3374804-1937-6DE7-1979-A75B7F12FD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670885"/>
              </p:ext>
            </p:extLst>
          </p:nvPr>
        </p:nvGraphicFramePr>
        <p:xfrm>
          <a:off x="1661070" y="990148"/>
          <a:ext cx="5958930" cy="3613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5498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C54F-3E13-332C-270C-D74DB8AE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5BA4D-F37B-B32D-646A-EDE95B73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Post-processing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CDD57F-E5C1-9E46-C18A-C3330F249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339401"/>
            <a:ext cx="7921624" cy="270831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MESA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and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mppnp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solve the equations of mixing and burning differently because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MESA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solves stellar structure, mixing, and nuclear reactions together, whereas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mppnp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splits the operators.</a:t>
            </a:r>
          </a:p>
          <a:p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This allows for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mppnp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to calculate a large network, but requires you to do a resolution study to ensure you resolve both timescales. 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767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BA2D-62AC-595A-B6F6-55966838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E47AF-95BD-FD15-D412-CB49EA23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ptos" panose="020B0004020202020204" pitchFamily="34" charset="0"/>
              </a:rPr>
              <a:t>Light odd-z elements are also impacted</a:t>
            </a:r>
            <a:br>
              <a:rPr lang="en-US" sz="3000" b="1" dirty="0">
                <a:latin typeface="Aptos" panose="020B0004020202020204" pitchFamily="34" charset="0"/>
              </a:rPr>
            </a:br>
            <a:r>
              <a:rPr lang="en-US" sz="3000" b="1" dirty="0">
                <a:latin typeface="Aptos" panose="020B0004020202020204" pitchFamily="34" charset="0"/>
              </a:rPr>
              <a:t>by mixing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AEAB61-F700-64EC-39E8-E7EEE5A85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280" y="1064396"/>
            <a:ext cx="2916220" cy="1944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35598D-5253-53B7-A354-D42F4B125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061" y="2966105"/>
            <a:ext cx="2916219" cy="19441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0B1DC6-820F-4637-EB2D-BAB498336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061" y="1064396"/>
            <a:ext cx="2916220" cy="19441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3D55E0-3256-884D-4845-33FE9BD6B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279" y="2966105"/>
            <a:ext cx="2916219" cy="19441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A41529-476E-9A2B-D6E0-7F91D5352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891" y="1951873"/>
            <a:ext cx="2728558" cy="1834780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A66460D-8F28-07F1-E098-D1440976F23E}"/>
              </a:ext>
            </a:extLst>
          </p:cNvPr>
          <p:cNvSpPr/>
          <p:nvPr/>
        </p:nvSpPr>
        <p:spPr>
          <a:xfrm>
            <a:off x="3020060" y="1064395"/>
            <a:ext cx="5856049" cy="392670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98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27560-9D70-2B02-92CF-A96387B8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CBE09-9EA3-E19F-AFD7-51058795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latin typeface="Aptos" panose="020B0004020202020204" pitchFamily="34" charset="0"/>
              </a:rPr>
              <a:t>Mixing conditions could impact exoplanet habitability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6461A-C14B-8B94-749C-C51A38C2D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52" y="1532074"/>
            <a:ext cx="4596223" cy="3064148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A graph of different planets&#10;&#10;AI-generated content may be incorrect.">
            <a:extLst>
              <a:ext uri="{FF2B5EF4-FFF2-40B4-BE49-F238E27FC236}">
                <a16:creationId xmlns:a16="http://schemas.microsoft.com/office/drawing/2014/main" id="{239E134A-1CB7-06C0-8E64-CA4B697B4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075" y="1532074"/>
            <a:ext cx="3885038" cy="3064148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6A6DDE-DEAF-A830-9A26-71A3C0E39363}"/>
              </a:ext>
            </a:extLst>
          </p:cNvPr>
          <p:cNvSpPr txBox="1"/>
          <p:nvPr/>
        </p:nvSpPr>
        <p:spPr>
          <a:xfrm>
            <a:off x="8087213" y="4350001"/>
            <a:ext cx="8599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Frank+2014</a:t>
            </a:r>
          </a:p>
        </p:txBody>
      </p:sp>
    </p:spTree>
    <p:extLst>
      <p:ext uri="{BB962C8B-B14F-4D97-AF65-F5344CB8AC3E}">
        <p14:creationId xmlns:p14="http://schemas.microsoft.com/office/powerpoint/2010/main" val="1955985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28DD-B300-491C-201F-74156472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3CE7F7F-4DEF-5775-41C9-B03C50606304}"/>
              </a:ext>
            </a:extLst>
          </p:cNvPr>
          <p:cNvSpPr/>
          <p:nvPr/>
        </p:nvSpPr>
        <p:spPr>
          <a:xfrm>
            <a:off x="1117712" y="830732"/>
            <a:ext cx="2295225" cy="1139506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chemeClr val="bg1"/>
                </a:solidFill>
              </a:rPr>
              <a:t>Different stellar environments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F1F943A-B480-BA68-6082-D59479063BA8}"/>
              </a:ext>
            </a:extLst>
          </p:cNvPr>
          <p:cNvGrpSpPr/>
          <p:nvPr/>
        </p:nvGrpSpPr>
        <p:grpSpPr>
          <a:xfrm>
            <a:off x="1155649" y="880090"/>
            <a:ext cx="7304885" cy="4086717"/>
            <a:chOff x="1155649" y="880090"/>
            <a:chExt cx="7304885" cy="4086717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370F7CA6-DE40-1F1C-A4CA-24D051C27CCB}"/>
                </a:ext>
              </a:extLst>
            </p:cNvPr>
            <p:cNvSpPr/>
            <p:nvPr/>
          </p:nvSpPr>
          <p:spPr>
            <a:xfrm>
              <a:off x="6241182" y="3827302"/>
              <a:ext cx="2219352" cy="1139505"/>
            </a:xfrm>
            <a:prstGeom prst="round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67" dirty="0">
                  <a:solidFill>
                    <a:schemeClr val="bg1"/>
                  </a:solidFill>
                </a:rPr>
                <a:t>Nuclear</a:t>
              </a:r>
              <a:r>
                <a:rPr lang="en-US" sz="1867" dirty="0"/>
                <a:t> physics impact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6BABABC5-D9C6-FCB9-E56B-8DAA860CCD8F}"/>
                </a:ext>
              </a:extLst>
            </p:cNvPr>
            <p:cNvSpPr/>
            <p:nvPr/>
          </p:nvSpPr>
          <p:spPr>
            <a:xfrm>
              <a:off x="6241182" y="880090"/>
              <a:ext cx="2219352" cy="1101973"/>
            </a:xfrm>
            <a:prstGeom prst="round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3D hydrodynamic mixing profile, efficiency, and response to ingestion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22806CE8-B12F-DF2E-5635-2ECF94329A79}"/>
                </a:ext>
              </a:extLst>
            </p:cNvPr>
            <p:cNvSpPr/>
            <p:nvPr/>
          </p:nvSpPr>
          <p:spPr>
            <a:xfrm>
              <a:off x="1155649" y="3827301"/>
              <a:ext cx="2219352" cy="1139506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67" dirty="0">
                  <a:solidFill>
                    <a:schemeClr val="bg1"/>
                  </a:solidFill>
                </a:rPr>
                <a:t>stable seeds in the C-shell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54F034C-FC94-519B-E0DF-C3601717E66A}"/>
                </a:ext>
              </a:extLst>
            </p:cNvPr>
            <p:cNvSpPr/>
            <p:nvPr/>
          </p:nvSpPr>
          <p:spPr>
            <a:xfrm>
              <a:off x="3875566" y="1907302"/>
              <a:ext cx="1869473" cy="1920000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300" i="1" dirty="0"/>
                <a:t>p</a:t>
              </a:r>
              <a:r>
                <a:rPr lang="en-US" sz="2300" dirty="0"/>
                <a:t> nuclei</a:t>
              </a:r>
            </a:p>
          </p:txBody>
        </p:sp>
        <p:sp>
          <p:nvSpPr>
            <p:cNvPr id="21" name="Down Arrow 20">
              <a:extLst>
                <a:ext uri="{FF2B5EF4-FFF2-40B4-BE49-F238E27FC236}">
                  <a16:creationId xmlns:a16="http://schemas.microsoft.com/office/drawing/2014/main" id="{54A5FDA7-D4E1-56F4-5349-372E97FAA3F8}"/>
                </a:ext>
              </a:extLst>
            </p:cNvPr>
            <p:cNvSpPr/>
            <p:nvPr/>
          </p:nvSpPr>
          <p:spPr>
            <a:xfrm rot="18900000">
              <a:off x="3346694" y="1671131"/>
              <a:ext cx="728786" cy="1187116"/>
            </a:xfrm>
            <a:prstGeom prst="downArrow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2" name="Down Arrow 21">
              <a:extLst>
                <a:ext uri="{FF2B5EF4-FFF2-40B4-BE49-F238E27FC236}">
                  <a16:creationId xmlns:a16="http://schemas.microsoft.com/office/drawing/2014/main" id="{3D90CE40-D226-C1FC-DFAA-64E138C6418F}"/>
                </a:ext>
              </a:extLst>
            </p:cNvPr>
            <p:cNvSpPr/>
            <p:nvPr/>
          </p:nvSpPr>
          <p:spPr>
            <a:xfrm rot="13694899">
              <a:off x="3342479" y="3029064"/>
              <a:ext cx="748483" cy="1155876"/>
            </a:xfrm>
            <a:prstGeom prst="downArrow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0F4BC2D0-4503-562A-206E-68DF8B2AFDCF}"/>
                </a:ext>
              </a:extLst>
            </p:cNvPr>
            <p:cNvSpPr/>
            <p:nvPr/>
          </p:nvSpPr>
          <p:spPr>
            <a:xfrm rot="8100000">
              <a:off x="5584119" y="2965047"/>
              <a:ext cx="728787" cy="1187116"/>
            </a:xfrm>
            <a:prstGeom prst="downArrow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4" name="Down Arrow 23">
              <a:extLst>
                <a:ext uri="{FF2B5EF4-FFF2-40B4-BE49-F238E27FC236}">
                  <a16:creationId xmlns:a16="http://schemas.microsoft.com/office/drawing/2014/main" id="{5766C8B1-760C-DCDB-CAEB-7C27310147F0}"/>
                </a:ext>
              </a:extLst>
            </p:cNvPr>
            <p:cNvSpPr/>
            <p:nvPr/>
          </p:nvSpPr>
          <p:spPr>
            <a:xfrm rot="2700000">
              <a:off x="5570189" y="1690831"/>
              <a:ext cx="748483" cy="1155876"/>
            </a:xfrm>
            <a:prstGeom prst="downArrow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536B8957-0768-0997-492A-FFAFCE6F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351489"/>
            <a:ext cx="7921624" cy="513160"/>
          </a:xfrm>
        </p:spPr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Making the </a:t>
            </a:r>
            <a:r>
              <a:rPr lang="en-US" b="1" i="1" dirty="0">
                <a:latin typeface="Aptos" panose="020B0004020202020204" pitchFamily="34" charset="0"/>
              </a:rPr>
              <a:t>p</a:t>
            </a:r>
            <a:r>
              <a:rPr lang="en-US" b="1" dirty="0">
                <a:latin typeface="Aptos" panose="020B0004020202020204" pitchFamily="34" charset="0"/>
              </a:rPr>
              <a:t> nuclei</a:t>
            </a:r>
          </a:p>
        </p:txBody>
      </p:sp>
    </p:spTree>
    <p:extLst>
      <p:ext uri="{BB962C8B-B14F-4D97-AF65-F5344CB8AC3E}">
        <p14:creationId xmlns:p14="http://schemas.microsoft.com/office/powerpoint/2010/main" val="1173914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C6D4-5875-B7EC-D4A5-4F3E9F0D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AD67-2A32-8245-BA3E-DA277ADE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latin typeface="Aptos" panose="020B0004020202020204" pitchFamily="34" charset="0"/>
              </a:rPr>
              <a:t>P</a:t>
            </a:r>
            <a:r>
              <a:rPr lang="en-US" b="1" dirty="0">
                <a:latin typeface="Aptos" panose="020B0004020202020204" pitchFamily="34" charset="0"/>
              </a:rPr>
              <a:t> nuclei measurements</a:t>
            </a:r>
          </a:p>
        </p:txBody>
      </p:sp>
      <p:pic>
        <p:nvPicPr>
          <p:cNvPr id="8" name="Picture 7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58D08682-507D-9236-FAEB-607EDA25E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180" y="1207850"/>
            <a:ext cx="3717006" cy="3023279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AC2E05-850E-5A2C-0E21-A59702073A6D}"/>
              </a:ext>
            </a:extLst>
          </p:cNvPr>
          <p:cNvSpPr txBox="1"/>
          <p:nvPr/>
        </p:nvSpPr>
        <p:spPr>
          <a:xfrm>
            <a:off x="3652189" y="3982165"/>
            <a:ext cx="1085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Rauscher+2013</a:t>
            </a:r>
          </a:p>
        </p:txBody>
      </p:sp>
      <p:pic>
        <p:nvPicPr>
          <p:cNvPr id="11" name="Picture 10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39F674FC-A035-3F95-9C58-0FBFCD119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187" y="1207849"/>
            <a:ext cx="4203198" cy="3023279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6F01AB-7528-B400-59C9-7FB41D00907B}"/>
              </a:ext>
            </a:extLst>
          </p:cNvPr>
          <p:cNvSpPr txBox="1"/>
          <p:nvPr/>
        </p:nvSpPr>
        <p:spPr>
          <a:xfrm>
            <a:off x="8122820" y="3992912"/>
            <a:ext cx="1022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Aptos" panose="020B0004020202020204" pitchFamily="34" charset="0"/>
              </a:rPr>
              <a:t>Rapp+2006</a:t>
            </a:r>
          </a:p>
        </p:txBody>
      </p:sp>
    </p:spTree>
    <p:extLst>
      <p:ext uri="{BB962C8B-B14F-4D97-AF65-F5344CB8AC3E}">
        <p14:creationId xmlns:p14="http://schemas.microsoft.com/office/powerpoint/2010/main" val="34719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CB2B7-E3B9-0926-EFFF-5E662571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88A6-0895-BD22-DBF2-FD2B306D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𝛾 process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D184-9BB1-1533-81BE-470E2F72C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8" y="1339401"/>
            <a:ext cx="7921624" cy="2708310"/>
          </a:xfrm>
        </p:spPr>
        <p:txBody>
          <a:bodyPr/>
          <a:lstStyle/>
          <a:p>
            <a:r>
              <a:rPr lang="en-US" sz="2000" baseline="30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152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Gd, </a:t>
            </a:r>
            <a:r>
              <a:rPr lang="en-US" sz="2000" baseline="30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164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Er, </a:t>
            </a:r>
            <a:r>
              <a:rPr lang="en-US" sz="2000" baseline="30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180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Ta have large </a:t>
            </a:r>
            <a:r>
              <a:rPr lang="en-US" sz="2000" i="1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s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-process contributions.</a:t>
            </a:r>
          </a:p>
          <a:p>
            <a:r>
              <a:rPr lang="en-US" sz="2000" baseline="30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113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In and </a:t>
            </a:r>
            <a:r>
              <a:rPr lang="en-US" sz="2000" baseline="30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115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Sn can have r-process contributions. </a:t>
            </a:r>
          </a:p>
          <a:p>
            <a:r>
              <a:rPr lang="en-US" sz="2000" baseline="30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138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La and </a:t>
            </a:r>
            <a:r>
              <a:rPr lang="en-US" sz="2000" baseline="30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180m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Ta have </a:t>
            </a:r>
            <a:r>
              <a:rPr lang="en-US" sz="2000" i="1" dirty="0" err="1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ν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-induced contributions.</a:t>
            </a:r>
          </a:p>
          <a:p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𝛾 process underproduces </a:t>
            </a:r>
            <a:r>
              <a:rPr lang="en-US" sz="2000" i="1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p 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 nuclei with </a:t>
            </a:r>
            <a:r>
              <a:rPr lang="en-US" sz="2000" i="1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 &lt; 124 and 150 ⩽ </a:t>
            </a:r>
            <a:r>
              <a:rPr lang="en-US" sz="2000" i="1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A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 ⩽ 165.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CBD9DC-4683-5F95-E20D-4914968A8271}"/>
              </a:ext>
            </a:extLst>
          </p:cNvPr>
          <p:cNvSpPr txBox="1"/>
          <p:nvPr/>
        </p:nvSpPr>
        <p:spPr>
          <a:xfrm>
            <a:off x="7886960" y="4866501"/>
            <a:ext cx="1257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ptos" panose="020B0004020202020204" pitchFamily="34" charset="0"/>
              </a:rPr>
              <a:t>Rauscher+2013</a:t>
            </a:r>
          </a:p>
        </p:txBody>
      </p:sp>
    </p:spTree>
    <p:extLst>
      <p:ext uri="{BB962C8B-B14F-4D97-AF65-F5344CB8AC3E}">
        <p14:creationId xmlns:p14="http://schemas.microsoft.com/office/powerpoint/2010/main" val="288417984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rgbClr val="005FBE"/>
      </a:dk1>
      <a:lt1>
        <a:srgbClr val="FFFFFF"/>
      </a:lt1>
      <a:dk2>
        <a:srgbClr val="002F60"/>
      </a:dk2>
      <a:lt2>
        <a:srgbClr val="EAAA00"/>
      </a:lt2>
      <a:accent1>
        <a:srgbClr val="E50024"/>
      </a:accent1>
      <a:accent2>
        <a:srgbClr val="005FBE"/>
      </a:accent2>
      <a:accent3>
        <a:srgbClr val="002F60"/>
      </a:accent3>
      <a:accent4>
        <a:srgbClr val="F5A600"/>
      </a:accent4>
      <a:accent5>
        <a:srgbClr val="005FBE"/>
      </a:accent5>
      <a:accent6>
        <a:srgbClr val="E50024"/>
      </a:accent6>
      <a:hlink>
        <a:srgbClr val="005FBC"/>
      </a:hlink>
      <a:folHlink>
        <a:srgbClr val="005F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CE9A52-1E78-DE41-9568-48203C94F3D3}" vid="{09F42DEB-BA8D-7A45-88D2-CCD54B0437D7}"/>
    </a:ext>
  </a:extLst>
</a:theme>
</file>

<file path=ppt/theme/theme2.xml><?xml version="1.0" encoding="utf-8"?>
<a:theme xmlns:a="http://schemas.openxmlformats.org/drawingml/2006/main" name="1_Theme1">
  <a:themeElements>
    <a:clrScheme name="Custom 1">
      <a:dk1>
        <a:srgbClr val="005FBE"/>
      </a:dk1>
      <a:lt1>
        <a:srgbClr val="FFFFFF"/>
      </a:lt1>
      <a:dk2>
        <a:srgbClr val="002F60"/>
      </a:dk2>
      <a:lt2>
        <a:srgbClr val="EAAA00"/>
      </a:lt2>
      <a:accent1>
        <a:srgbClr val="E50024"/>
      </a:accent1>
      <a:accent2>
        <a:srgbClr val="005FBE"/>
      </a:accent2>
      <a:accent3>
        <a:srgbClr val="002F60"/>
      </a:accent3>
      <a:accent4>
        <a:srgbClr val="F5A600"/>
      </a:accent4>
      <a:accent5>
        <a:srgbClr val="005FBE"/>
      </a:accent5>
      <a:accent6>
        <a:srgbClr val="E50024"/>
      </a:accent6>
      <a:hlink>
        <a:srgbClr val="005FBC"/>
      </a:hlink>
      <a:folHlink>
        <a:srgbClr val="005F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CE9A52-1E78-DE41-9568-48203C94F3D3}" vid="{6BA074F9-06F2-AA47-B0F8-0B2D05D463B9}"/>
    </a:ext>
  </a:extLst>
</a:theme>
</file>

<file path=ppt/theme/theme3.xml><?xml version="1.0" encoding="utf-8"?>
<a:theme xmlns:a="http://schemas.openxmlformats.org/drawingml/2006/main" name="2_Theme1">
  <a:themeElements>
    <a:clrScheme name="Custom 1">
      <a:dk1>
        <a:srgbClr val="005FBE"/>
      </a:dk1>
      <a:lt1>
        <a:srgbClr val="FFFFFF"/>
      </a:lt1>
      <a:dk2>
        <a:srgbClr val="002F60"/>
      </a:dk2>
      <a:lt2>
        <a:srgbClr val="EAAA00"/>
      </a:lt2>
      <a:accent1>
        <a:srgbClr val="E50024"/>
      </a:accent1>
      <a:accent2>
        <a:srgbClr val="005FBE"/>
      </a:accent2>
      <a:accent3>
        <a:srgbClr val="002F60"/>
      </a:accent3>
      <a:accent4>
        <a:srgbClr val="F5A600"/>
      </a:accent4>
      <a:accent5>
        <a:srgbClr val="005FBE"/>
      </a:accent5>
      <a:accent6>
        <a:srgbClr val="E50024"/>
      </a:accent6>
      <a:hlink>
        <a:srgbClr val="005FBC"/>
      </a:hlink>
      <a:folHlink>
        <a:srgbClr val="005F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CE9A52-1E78-DE41-9568-48203C94F3D3}" vid="{C388F94A-B177-644E-8778-25DDCFEB7CF0}"/>
    </a:ext>
  </a:extLst>
</a:theme>
</file>

<file path=ppt/theme/theme4.xml><?xml version="1.0" encoding="utf-8"?>
<a:theme xmlns:a="http://schemas.openxmlformats.org/drawingml/2006/main" name="3_Theme1">
  <a:themeElements>
    <a:clrScheme name="Custom 2">
      <a:dk1>
        <a:srgbClr val="005FBE"/>
      </a:dk1>
      <a:lt1>
        <a:srgbClr val="FFFFFF"/>
      </a:lt1>
      <a:dk2>
        <a:srgbClr val="002F60"/>
      </a:dk2>
      <a:lt2>
        <a:srgbClr val="EAAA00"/>
      </a:lt2>
      <a:accent1>
        <a:srgbClr val="E50024"/>
      </a:accent1>
      <a:accent2>
        <a:srgbClr val="005FBE"/>
      </a:accent2>
      <a:accent3>
        <a:srgbClr val="002F60"/>
      </a:accent3>
      <a:accent4>
        <a:srgbClr val="F5A600"/>
      </a:accent4>
      <a:accent5>
        <a:srgbClr val="005FBE"/>
      </a:accent5>
      <a:accent6>
        <a:srgbClr val="E50024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CE9A52-1E78-DE41-9568-48203C94F3D3}" vid="{C1DE1C1A-3932-C045-A9A0-508DDD5AE9D3}"/>
    </a:ext>
  </a:extLst>
</a:theme>
</file>

<file path=ppt/theme/theme5.xml><?xml version="1.0" encoding="utf-8"?>
<a:theme xmlns:a="http://schemas.openxmlformats.org/drawingml/2006/main" name="4_Theme1">
  <a:themeElements>
    <a:clrScheme name="Custom 2">
      <a:dk1>
        <a:srgbClr val="005FBE"/>
      </a:dk1>
      <a:lt1>
        <a:srgbClr val="FFFFFF"/>
      </a:lt1>
      <a:dk2>
        <a:srgbClr val="002F60"/>
      </a:dk2>
      <a:lt2>
        <a:srgbClr val="EAAA00"/>
      </a:lt2>
      <a:accent1>
        <a:srgbClr val="E50024"/>
      </a:accent1>
      <a:accent2>
        <a:srgbClr val="005FBE"/>
      </a:accent2>
      <a:accent3>
        <a:srgbClr val="002F60"/>
      </a:accent3>
      <a:accent4>
        <a:srgbClr val="F5A600"/>
      </a:accent4>
      <a:accent5>
        <a:srgbClr val="005FBE"/>
      </a:accent5>
      <a:accent6>
        <a:srgbClr val="E50024"/>
      </a:accent6>
      <a:hlink>
        <a:srgbClr val="FFFFFF"/>
      </a:hlink>
      <a:folHlink>
        <a:srgbClr val="FFFF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CE9A52-1E78-DE41-9568-48203C94F3D3}" vid="{3CFA3EC0-BDBC-734D-A163-35147E31D17A}"/>
    </a:ext>
  </a:extLst>
</a:theme>
</file>

<file path=ppt/theme/theme6.xml><?xml version="1.0" encoding="utf-8"?>
<a:theme xmlns:a="http://schemas.openxmlformats.org/drawingml/2006/main" name="5_Theme1">
  <a:themeElements>
    <a:clrScheme name="Custom 1">
      <a:dk1>
        <a:srgbClr val="005FBE"/>
      </a:dk1>
      <a:lt1>
        <a:srgbClr val="FFFFFF"/>
      </a:lt1>
      <a:dk2>
        <a:srgbClr val="002F60"/>
      </a:dk2>
      <a:lt2>
        <a:srgbClr val="EAAA00"/>
      </a:lt2>
      <a:accent1>
        <a:srgbClr val="E50024"/>
      </a:accent1>
      <a:accent2>
        <a:srgbClr val="005FBE"/>
      </a:accent2>
      <a:accent3>
        <a:srgbClr val="002F60"/>
      </a:accent3>
      <a:accent4>
        <a:srgbClr val="F5A600"/>
      </a:accent4>
      <a:accent5>
        <a:srgbClr val="005FBE"/>
      </a:accent5>
      <a:accent6>
        <a:srgbClr val="E50024"/>
      </a:accent6>
      <a:hlink>
        <a:srgbClr val="005FBC"/>
      </a:hlink>
      <a:folHlink>
        <a:srgbClr val="005F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CE9A52-1E78-DE41-9568-48203C94F3D3}" vid="{E8EB80EF-D814-0842-85DB-BA0C2D3AE422}"/>
    </a:ext>
  </a:extLst>
</a:theme>
</file>

<file path=ppt/theme/theme7.xml><?xml version="1.0" encoding="utf-8"?>
<a:theme xmlns:a="http://schemas.openxmlformats.org/drawingml/2006/main" name="6_Theme1">
  <a:themeElements>
    <a:clrScheme name="Custom 1">
      <a:dk1>
        <a:srgbClr val="005FBE"/>
      </a:dk1>
      <a:lt1>
        <a:srgbClr val="FFFFFF"/>
      </a:lt1>
      <a:dk2>
        <a:srgbClr val="002F60"/>
      </a:dk2>
      <a:lt2>
        <a:srgbClr val="EAAA00"/>
      </a:lt2>
      <a:accent1>
        <a:srgbClr val="E50024"/>
      </a:accent1>
      <a:accent2>
        <a:srgbClr val="005FBE"/>
      </a:accent2>
      <a:accent3>
        <a:srgbClr val="002F60"/>
      </a:accent3>
      <a:accent4>
        <a:srgbClr val="F5A600"/>
      </a:accent4>
      <a:accent5>
        <a:srgbClr val="005FBE"/>
      </a:accent5>
      <a:accent6>
        <a:srgbClr val="E50024"/>
      </a:accent6>
      <a:hlink>
        <a:srgbClr val="005FBC"/>
      </a:hlink>
      <a:folHlink>
        <a:srgbClr val="005F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CE9A52-1E78-DE41-9568-48203C94F3D3}" vid="{51448C44-D1BE-B646-8170-5784421C58A8}"/>
    </a:ext>
  </a:extLst>
</a:theme>
</file>

<file path=ppt/theme/theme8.xml><?xml version="1.0" encoding="utf-8"?>
<a:theme xmlns:a="http://schemas.openxmlformats.org/drawingml/2006/main" name="7_Theme1">
  <a:themeElements>
    <a:clrScheme name="Custom 1">
      <a:dk1>
        <a:srgbClr val="005FBE"/>
      </a:dk1>
      <a:lt1>
        <a:srgbClr val="FFFFFF"/>
      </a:lt1>
      <a:dk2>
        <a:srgbClr val="002F60"/>
      </a:dk2>
      <a:lt2>
        <a:srgbClr val="EAAA00"/>
      </a:lt2>
      <a:accent1>
        <a:srgbClr val="E50024"/>
      </a:accent1>
      <a:accent2>
        <a:srgbClr val="005FBE"/>
      </a:accent2>
      <a:accent3>
        <a:srgbClr val="002F60"/>
      </a:accent3>
      <a:accent4>
        <a:srgbClr val="F5A600"/>
      </a:accent4>
      <a:accent5>
        <a:srgbClr val="005FBE"/>
      </a:accent5>
      <a:accent6>
        <a:srgbClr val="E50024"/>
      </a:accent6>
      <a:hlink>
        <a:srgbClr val="005FBC"/>
      </a:hlink>
      <a:folHlink>
        <a:srgbClr val="005F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2CE9A52-1E78-DE41-9568-48203C94F3D3}" vid="{76393778-4CB7-3149-AAD3-780DCA8D46F0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831</TotalTime>
  <Words>652</Words>
  <Application>Microsoft Macintosh PowerPoint</Application>
  <PresentationFormat>On-screen Show (16:9)</PresentationFormat>
  <Paragraphs>123</Paragraphs>
  <Slides>32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32</vt:i4>
      </vt:variant>
    </vt:vector>
  </HeadingPairs>
  <TitlesOfParts>
    <vt:vector size="47" baseType="lpstr">
      <vt:lpstr>Aptos</vt:lpstr>
      <vt:lpstr>Arial</vt:lpstr>
      <vt:lpstr>Calibri</vt:lpstr>
      <vt:lpstr>Calibri Light</vt:lpstr>
      <vt:lpstr>Cambria Math</vt:lpstr>
      <vt:lpstr>Consolas</vt:lpstr>
      <vt:lpstr>Wingdings</vt:lpstr>
      <vt:lpstr>Theme1</vt:lpstr>
      <vt:lpstr>1_Theme1</vt:lpstr>
      <vt:lpstr>2_Theme1</vt:lpstr>
      <vt:lpstr>3_Theme1</vt:lpstr>
      <vt:lpstr>4_Theme1</vt:lpstr>
      <vt:lpstr>5_Theme1</vt:lpstr>
      <vt:lpstr>6_Theme1</vt:lpstr>
      <vt:lpstr>7_Theme1</vt:lpstr>
      <vt:lpstr>PowerPoint Presentation</vt:lpstr>
      <vt:lpstr>Massive stars and the origin of the P nuclei</vt:lpstr>
      <vt:lpstr>PowerPoint Presentation</vt:lpstr>
      <vt:lpstr>PowerPoint Presentation</vt:lpstr>
      <vt:lpstr>Massive star burning stages</vt:lpstr>
      <vt:lpstr>O-C shell mergers</vt:lpstr>
      <vt:lpstr>Unique nucleosynthesis during merger</vt:lpstr>
      <vt:lpstr>P nuclei and the 𝛾 Process</vt:lpstr>
      <vt:lpstr>Mixing in stars</vt:lpstr>
      <vt:lpstr>Convective-reactive nucleosynthesis</vt:lpstr>
      <vt:lpstr>Mixing Length theory</vt:lpstr>
      <vt:lpstr>3D hydrodynamics</vt:lpstr>
      <vt:lpstr>PowerPoint Presentation</vt:lpstr>
      <vt:lpstr>Modelling</vt:lpstr>
      <vt:lpstr>Determining Mixing impact</vt:lpstr>
      <vt:lpstr>Determining reaction impact</vt:lpstr>
      <vt:lpstr>Impact from mixing and reactions</vt:lpstr>
      <vt:lpstr>Nucleosynthesis in the merger</vt:lpstr>
      <vt:lpstr>Velocities impact BY AVERAGE factor of 9 </vt:lpstr>
      <vt:lpstr>Ingestion rate impacts up to average factor of 70 </vt:lpstr>
      <vt:lpstr>Quenching reduces by average factor of 4</vt:lpstr>
      <vt:lpstr>Mixing overall impacts by average factor of 280</vt:lpstr>
      <vt:lpstr>Nuclear reactions impact up to average factor of 6</vt:lpstr>
      <vt:lpstr>Correlations depend on mixing conditions</vt:lpstr>
      <vt:lpstr>shared correlations across all cases</vt:lpstr>
      <vt:lpstr>Conclusions</vt:lpstr>
      <vt:lpstr>Post-processing</vt:lpstr>
      <vt:lpstr>Light odd-z elements are also impacted by mixing</vt:lpstr>
      <vt:lpstr>Mixing conditions could impact exoplanet habitability</vt:lpstr>
      <vt:lpstr>Making the p nuclei</vt:lpstr>
      <vt:lpstr>P nuclei measurements</vt:lpstr>
      <vt:lpstr>𝛾 process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Issa</dc:creator>
  <cp:lastModifiedBy>Joshua Issa</cp:lastModifiedBy>
  <cp:revision>323</cp:revision>
  <dcterms:created xsi:type="dcterms:W3CDTF">2025-08-06T18:47:57Z</dcterms:created>
  <dcterms:modified xsi:type="dcterms:W3CDTF">2025-08-14T04:20:47Z</dcterms:modified>
</cp:coreProperties>
</file>